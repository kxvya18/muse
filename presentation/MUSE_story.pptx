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642d65c-c615-a251-9a63-bb42c4cf3803}">
          <p14:sldIdLst>
            <p14:sldId id="256"/>
            <p14:sldId id="257"/>
          </p14:sldIdLst>
        </p14:section>
        <p14:section name="The problem" id="{f8bbd355-6879-f8f2-62a9-67163bb77aef}">
          <p14:sldIdLst>
            <p14:sldId id="258"/>
            <p14:sldId id="259"/>
            <p14:sldId id="260"/>
          </p14:sldIdLst>
        </p14:section>
        <p14:section name="Key terms" id="{38a3ecc0-e510-0692-20b3-db04bc23079e}">
          <p14:sldIdLst>
            <p14:sldId id="261"/>
            <p14:sldId id="262"/>
            <p14:sldId id="263"/>
            <p14:sldId id="264"/>
            <p14:sldId id="265"/>
          </p14:sldIdLst>
        </p14:section>
        <p14:section name="How MUSE works" id="{701f3a24-f214-bf3b-388d-b03a0d28988c}">
          <p14:sldIdLst>
            <p14:sldId id="266"/>
            <p14:sldId id="267"/>
            <p14:sldId id="268"/>
            <p14:sldId id="269"/>
          </p14:sldIdLst>
        </p14:section>
        <p14:section name="Reasoning journey" id="{cd0bf514-56bc-d0d0-38c0-8431a3d99091}">
          <p14:sldIdLst>
            <p14:sldId id="270"/>
            <p14:sldId id="271"/>
            <p14:sldId id="272"/>
          </p14:sldIdLst>
        </p14:section>
        <p14:section name="How the code is built" id="{b00d67c5-eeb8-e319-8ef8-1ed040439dae}">
          <p14:sldIdLst>
            <p14:sldId id="273"/>
            <p14:sldId id="274"/>
            <p14:sldId id="275"/>
            <p14:sldId id="276"/>
          </p14:sldIdLst>
        </p14:section>
        <p14:section name="Results" id="{793306b7-9be3-2f6a-4526-e8a728c59732}">
          <p14:sldIdLst>
            <p14:sldId id="277"/>
            <p14:sldId id="278"/>
            <p14:sldId id="279"/>
            <p14:sldId id="280"/>
            <p14:sldId id="281"/>
            <p14:sldId id="282"/>
            <p14:sldId id="283"/>
            <p14:sldId id="284"/>
            <p14:sldId id="285"/>
            <p14:sldId id="286"/>
            <p14:sldId id="287"/>
          </p14:sldIdLst>
        </p14:section>
        <p14:section name="Where we are" id="{e3f21d80-9bde-51c8-ec3c-f8a40ee1cb8e}">
          <p14:sldIdLst>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mn-lt"/>
              </a:defRPr>
            </a:pPr>
            <a:r>
              <a:rPr sz="1400" b="0" i="0" u="none" strike="noStrike">
                <a:solidFill>
                  <a:srgbClr val="000000"/>
                </a:solidFill>
                <a:latin typeface="+mn-lt"/>
              </a:rPr>
              <a:t>Cora validation accuracy</a:t>
            </a:r>
          </a:p>
        </c:rich>
      </c:tx>
      <c:layout/>
      <c:overlay val="0"/>
    </c:title>
    <c:autoTitleDeleted val="0"/>
    <c:plotArea>
      <c:layout/>
      <c:barChart>
        <c:barDir val="col"/>
        <c:grouping val="clustered"/>
        <c:varyColors val="0"/>
        <c:ser>
          <c:idx val="0"/>
          <c:order val="0"/>
          <c:tx>
            <c:strRef>
              <c:f>Sheet1!$B$1</c:f>
              <c:strCache>
                <c:ptCount val="1"/>
                <c:pt idx="0">
                  <c:v>Validation accuracy</c:v>
                </c:pt>
              </c:strCache>
            </c:strRef>
          </c:tx>
          <c:spPr>
            <a:solidFill>
              <a:srgbClr val="1F7A8C"/>
            </a:solidFill>
            <a:effectLst/>
          </c:spPr>
          <c:invertIfNegative val="0"/>
          <c:dLbls>
            <c:numFmt formatCode="0.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Original plan</c:v>
                  </c:pt>
                  <c:pt idx="1">
                    <c:v>+ neighbour evidence</c:v>
                  </c:pt>
                  <c:pt idx="2">
                    <c:v>+ per-scan training</c:v>
                  </c:pt>
                  <c:pt idx="3">
                    <c:v>+ tuning</c:v>
                  </c:pt>
                </c:lvl>
              </c:multiLvlStrCache>
            </c:multiLvlStrRef>
          </c:cat>
          <c:val>
            <c:numRef>
              <c:f>Sheet1!$B$2:$B$5</c:f>
              <c:numCache>
                <c:formatCode>General</c:formatCode>
                <c:ptCount val="4"/>
                <c:pt idx="0">
                  <c:v>0.696</c:v>
                </c:pt>
                <c:pt idx="1">
                  <c:v>0.718</c:v>
                </c:pt>
                <c:pt idx="2">
                  <c:v>0.77</c:v>
                </c:pt>
                <c:pt idx="3">
                  <c:v>0.791</c:v>
                </c:pt>
              </c:numCache>
            </c:numRef>
          </c:val>
        </c:ser>
        <c:dLbls>
          <c:numFmt formatCode="0.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0.85"/>
          <c:min val="0.6"/>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mn-lt"/>
              </a:defRPr>
            </a:pPr>
            <a:r>
              <a:rPr sz="1400" b="0" i="0" u="none" strike="noStrike">
                <a:solidFill>
                  <a:srgbClr val="000000"/>
                </a:solidFill>
                <a:latin typeface="+mn-lt"/>
              </a:rPr>
              <a:t>Mean Dice (higher is better)</a:t>
            </a:r>
          </a:p>
        </c:rich>
      </c:tx>
      <c:layout/>
      <c:overlay val="0"/>
    </c:title>
    <c:autoTitleDeleted val="0"/>
    <c:plotArea>
      <c:layout/>
      <c:barChart>
        <c:barDir val="bar"/>
        <c:grouping val="clustered"/>
        <c:varyColors val="0"/>
        <c:ser>
          <c:idx val="0"/>
          <c:order val="0"/>
          <c:tx>
            <c:strRef>
              <c:f>Sheet1!$B$1</c:f>
              <c:strCache>
                <c:ptCount val="1"/>
                <c:pt idx="0">
                  <c:v>Mean Dice</c:v>
                </c:pt>
              </c:strCache>
            </c:strRef>
          </c:tx>
          <c:spPr>
            <a:solidFill>
              <a:srgbClr val="1F7A8C"/>
            </a:solidFill>
            <a:effectLst/>
          </c:spPr>
          <c:invertIfNegative val="0"/>
          <c:dLbls>
            <c:numFmt formatCode="0.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Sheet1!$A$2:$A$8</c:f>
              <c:multiLvlStrCache>
                <c:ptCount val="7"/>
                <c:lvl>
                  <c:pt idx="0">
                    <c:v>mmFormer-style</c:v>
                  </c:pt>
                  <c:pt idx="1">
                    <c:v>MUSE</c:v>
                  </c:pt>
                  <c:pt idx="2">
                    <c:v>RFNet-style</c:v>
                  </c:pt>
                  <c:pt idx="3">
                    <c:v>HeMIS</c:v>
                  </c:pt>
                  <c:pt idx="4">
                    <c:v>TMC</c:v>
                  </c:pt>
                  <c:pt idx="5">
                    <c:v>LateMean</c:v>
                  </c:pt>
                  <c:pt idx="6">
                    <c:v>UNet-MD</c:v>
                  </c:pt>
                </c:lvl>
              </c:multiLvlStrCache>
            </c:multiLvlStrRef>
          </c:cat>
          <c:val>
            <c:numRef>
              <c:f>Sheet1!$B$2:$B$8</c:f>
              <c:numCache>
                <c:formatCode>General</c:formatCode>
                <c:ptCount val="7"/>
                <c:pt idx="0">
                  <c:v>0.614</c:v>
                </c:pt>
                <c:pt idx="1">
                  <c:v>0.612</c:v>
                </c:pt>
                <c:pt idx="2">
                  <c:v>0.606</c:v>
                </c:pt>
                <c:pt idx="3">
                  <c:v>0.603</c:v>
                </c:pt>
                <c:pt idx="4">
                  <c:v>0.601</c:v>
                </c:pt>
                <c:pt idx="5">
                  <c:v>0.594</c:v>
                </c:pt>
                <c:pt idx="6">
                  <c:v>0.507</c:v>
                </c:pt>
              </c:numCache>
            </c:numRef>
          </c:val>
        </c:ser>
        <c:dLbls>
          <c:numFmt formatCode="0.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0.65"/>
          <c:min val="0.4"/>
        </c:scaling>
        <c:delete val="0"/>
        <c:axPos val="b"/>
        <c:majorGridlines>
          <c:spPr>
            <a:ln w="6350" cap="flat">
              <a:solidFill>
                <a:srgbClr val="D9DE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mn-lt"/>
              </a:defRPr>
            </a:pPr>
            <a:r>
              <a:rPr sz="1400" b="0" i="0" u="none" strike="noStrike">
                <a:solidFill>
                  <a:srgbClr val="000000"/>
                </a:solidFill>
                <a:latin typeface="+mn-lt"/>
              </a:rPr>
              <a:t>MRI mean Dice</a:t>
            </a:r>
          </a:p>
        </c:rich>
      </c:tx>
      <c:layout/>
      <c:overlay val="0"/>
    </c:title>
    <c:autoTitleDeleted val="0"/>
    <c:plotArea>
      <c:layout/>
      <c:barChart>
        <c:barDir val="col"/>
        <c:grouping val="clustered"/>
        <c:varyColors val="0"/>
        <c:ser>
          <c:idx val="0"/>
          <c:order val="0"/>
          <c:tx>
            <c:strRef>
              <c:f>Sheet1!$B$1</c:f>
              <c:strCache>
                <c:ptCount val="1"/>
                <c:pt idx="0">
                  <c:v>Mean Dice</c:v>
                </c:pt>
              </c:strCache>
            </c:strRef>
          </c:tx>
          <c:spPr>
            <a:solidFill>
              <a:srgbClr val="1F7A8C"/>
            </a:solidFill>
            <a:effectLst/>
          </c:spPr>
          <c:invertIfNegative val="0"/>
          <c:dLbls>
            <c:numFmt formatCode="0.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MUSE (full)</c:v>
                  </c:pt>
                  <c:pt idx="1">
                    <c:v>Sum → Dempster's rule</c:v>
                  </c:pt>
                  <c:pt idx="2">
                    <c:v>No reliability gate</c:v>
                  </c:pt>
                </c:lvl>
              </c:multiLvlStrCache>
            </c:multiLvlStrRef>
          </c:cat>
          <c:val>
            <c:numRef>
              <c:f>Sheet1!$B$2:$B$4</c:f>
              <c:numCache>
                <c:formatCode>General</c:formatCode>
                <c:ptCount val="3"/>
                <c:pt idx="0">
                  <c:v>0.612</c:v>
                </c:pt>
                <c:pt idx="1">
                  <c:v>0.604</c:v>
                </c:pt>
                <c:pt idx="2">
                  <c:v>0.586</c:v>
                </c:pt>
              </c:numCache>
            </c:numRef>
          </c:val>
        </c:ser>
        <c:dLbls>
          <c:numFmt formatCode="0.0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0.63"/>
          <c:min val="0.55"/>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tells the MUSE story end to end for a mixed audience: why missing scans matter, the plain meaning of every technical term, how MUSE works, why each design decision was made, how the code is built, and what the experiments show — honestly, including where MUSE does not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a real clinical problem, one idea, a carefully engineered system, and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MRI 'sequence' is the same brain photographed with a different physical setting, so each highlights different tissue. Radiologists combine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Emergencies, contrast allergies, scanner availability and different hospital protocols mean many patients lack one or more sequences. With 4 sequences there are 15 possible combinations of what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glossary slides: images, networks, evidence, and how we judge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heart of MUSE.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available scan goes through its own 3D U-Net and evidential head. Missing scans skip the network and contribute alpha = 1 (no evidence). A gate learns how much to trust each scan for each class at each voxel. Evidence is summed. Outputs: segmentation, uncertainty map, per-scan contributions.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fusion is a sum of non-negative evidence: order does not matter, adding zero changes nothing, and adding evidence can only lower uncertainty. We also checked all three on real model outputs: zero violations.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documents contained claims a reviewer would reject. We fixed them rather than copy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benchmark (Cora) validation accuracy, then the move to real 3D MRI.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MRI download, preprocessing (crop to brain, normalise each scan), random 3D crops with randomly hidden scans during training, model selection on validation patients, testing on 98 unseen patients across all 15 combinations, then tables and figures straight from the saved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readable modules. Each file has one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Dice over whole tumour, tumour core and enhancing tumour, averaged over all 15 combinations. MUSE vs mmFormer-style and RFNet-style: no significant difference (a tie). MUSE vs HeMIS, LateMean, UNet-MD: significantly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axis is scaled from the worst to the best of these four methods, so differences look larger than they are; the actual numbers are on the previous and next slides. MUSE leads on whole tumour, tumour core, error detection and single-sequence robustness; mmFormer-style on enhancing tumour and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Dice for each of the 15 combinations of available scans (red box = best in that column). The top methods are usually within 0.01 of each other; MUSE is best with all scans but T2 and with FLAIR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Dice as scans go missing; all strong methods degrade similarly. Right: each dot is one patient. mmFormer-style wins more patients overall, mostly easy ones; MUSE wins most of the hard, low-Dice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how well each method's uncertainty flags its own mistakes, per patient — MUSE is clearly best. Right: the share of evidence MUSE drew from each scan on tumour voxels, matching how radiologists read these scans.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Zoomed real MRI with outlines: green = whole tumour, red = tumour core, gold = enhancing tumour. Columns: expert, MUSE, HeMIS, MUSE's uncertainty (expert outline dashed). As scans disappear, MUSE stays closer to the expert and its uncertainty lights up exactly where it is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3D surfaces inside a translucent brain: swelling (green), tumour core (red) and enhancing tumour (gold). From left: expert, MUSE with all four scans, without T1gd, with FLAIR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MUSE's uncertainty on the 3D tumour surface. Dark = confident, bright = unsure. Removing scans makes the doubt grow exactly at the tumour border, where mistakes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 and product graphs with four feature groups as 'modalities', randomly missing per node. Test accuracy over 0–70% missing, 5 seeds; MUSE degrades least as features go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 a part, retrain, retest on the same 98 patients. p-values are paired Wilcoxon tests against full MUSE.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p>
            <a:pPr indent="0" marL="0">
              <a:buNone/>
            </a:pPr>
            <a:r>
              <a:rPr lang="en-US" sz="4400" b="1" dirty="0">
                <a:solidFill>
                  <a:schemeClr val="bg1"/>
                </a:solidFill>
                <a:latin typeface="Cambria" pitchFamily="34" charset="0"/>
                <a:ea typeface="Cambria" pitchFamily="34" charset="-122"/>
                <a:cs typeface="Cambria" pitchFamily="34" charset="-120"/>
              </a:rPr>
              <a:t>MUSE: trustworthy AI when medical scans are missing</a:t>
            </a: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lstStyle/>
          <a:p>
            <a:pPr indent="0" marL="0">
              <a:buNone/>
            </a:pPr>
            <a:r>
              <a:rPr lang="en-US" sz="2000" dirty="0">
                <a:solidFill>
                  <a:schemeClr val="accent3"/>
                </a:solidFill>
              </a:rPr>
              <a:t>Modality-Universal Selective Evidence Fusion — the full story: problem, ideas, code, results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The story in one slide</a:t>
            </a:r>
            <a:endParaRPr lang="en-US" sz="3200" dirty="0"/>
          </a:p>
        </p:txBody>
      </p:sp>
      <p:sp>
        <p:nvSpPr>
          <p:cNvPr id="4" name="story0-card"/>
          <p:cNvSpPr/>
          <p:nvPr/>
        </p:nvSpPr>
        <p:spPr>
          <a:xfrm>
            <a:off x="548640" y="1463040"/>
            <a:ext cx="2633472" cy="4206240"/>
          </a:xfrm>
          <a:prstGeom prst="roundRect">
            <a:avLst>
              <a:gd name="adj" fmla="val 4167"/>
            </a:avLst>
          </a:prstGeom>
          <a:solidFill>
            <a:schemeClr val="bg2"/>
          </a:solidFill>
          <a:ln w="12700">
            <a:solidFill>
              <a:schemeClr val="bg2"/>
            </a:solidFill>
            <a:prstDash val="solid"/>
          </a:ln>
        </p:spPr>
      </p:sp>
      <p:sp>
        <p:nvSpPr>
          <p:cNvPr id="5" name="story0-dot"/>
          <p:cNvSpPr/>
          <p:nvPr/>
        </p:nvSpPr>
        <p:spPr>
          <a:xfrm>
            <a:off x="777240" y="1691640"/>
            <a:ext cx="566928" cy="566928"/>
          </a:xfrm>
          <a:prstGeom prst="ellipse">
            <a:avLst/>
          </a:prstGeom>
          <a:solidFill>
            <a:srgbClr val="E07A5F"/>
          </a:solidFill>
          <a:ln w="12700">
            <a:solidFill>
              <a:srgbClr val="E07A5F"/>
            </a:solidFill>
            <a:prstDash val="solid"/>
          </a:ln>
        </p:spPr>
      </p:sp>
      <p:pic>
        <p:nvPicPr>
          <p:cNvPr id="6" name="story0-icon" descr="preencoded.png">    </p:cNvPr>
          <p:cNvPicPr>
            <a:picLocks noChangeAspect="1"/>
          </p:cNvPicPr>
          <p:nvPr/>
        </p:nvPicPr>
        <p:blipFill>
          <a:blip r:embed="rId1"/>
          <a:stretch>
            <a:fillRect/>
          </a:stretch>
        </p:blipFill>
        <p:spPr>
          <a:xfrm>
            <a:off x="905256" y="1819656"/>
            <a:ext cx="310896" cy="310896"/>
          </a:xfrm>
          <a:prstGeom prst="rect">
            <a:avLst/>
          </a:prstGeom>
        </p:spPr>
      </p:pic>
      <p:sp>
        <p:nvSpPr>
          <p:cNvPr id="7" name="story0-head"/>
          <p:cNvSpPr txBox="1"/>
          <p:nvPr/>
        </p:nvSpPr>
        <p:spPr>
          <a:xfrm>
            <a:off x="1463040" y="1664208"/>
            <a:ext cx="1581912" cy="594360"/>
          </a:xfrm>
          <a:prstGeom prst="rect">
            <a:avLst/>
          </a:prstGeom>
          <a:noFill/>
          <a:ln/>
        </p:spPr>
        <p:txBody>
          <a:bodyPr wrap="square" lIns="0" tIns="0" rIns="0" bIns="0" rtlCol="0" anchor="ctr"/>
          <a:lstStyle/>
          <a:p>
            <a:pPr indent="0" marL="0">
              <a:buNone/>
            </a:pPr>
            <a:r>
              <a:rPr lang="en-US" sz="1800" b="1" dirty="0">
                <a:solidFill>
                  <a:schemeClr val="tx1"/>
                </a:solidFill>
              </a:rPr>
              <a:t>1 · Problem</a:t>
            </a:r>
            <a:endParaRPr lang="en-US" sz="1800" dirty="0"/>
          </a:p>
        </p:txBody>
      </p:sp>
      <p:sp>
        <p:nvSpPr>
          <p:cNvPr id="8" name="story0-body"/>
          <p:cNvSpPr txBox="1"/>
          <p:nvPr/>
        </p:nvSpPr>
        <p:spPr>
          <a:xfrm>
            <a:off x="777240" y="2377440"/>
            <a:ext cx="2176272" cy="3154680"/>
          </a:xfrm>
          <a:prstGeom prst="rect">
            <a:avLst/>
          </a:prstGeom>
          <a:noFill/>
          <a:ln/>
        </p:spPr>
        <p:txBody>
          <a:bodyPr wrap="square" lIns="0" tIns="0" rIns="0" bIns="0" rtlCol="0" anchor="t"/>
          <a:lstStyle/>
          <a:p>
            <a:pPr indent="0" marL="0">
              <a:buNone/>
            </a:pPr>
            <a:r>
              <a:rPr lang="en-US" sz="1600" dirty="0">
                <a:solidFill>
                  <a:schemeClr val="tx2"/>
                </a:solidFill>
              </a:rPr>
              <a:t>Brain-tumour AI needs 4 MRI scans, but patients often miss some. Current AI fakes them or breaks.</a:t>
            </a:r>
            <a:endParaRPr lang="en-US" sz="1600" dirty="0"/>
          </a:p>
        </p:txBody>
      </p:sp>
      <p:sp>
        <p:nvSpPr>
          <p:cNvPr id="9" name="story1-card"/>
          <p:cNvSpPr/>
          <p:nvPr/>
        </p:nvSpPr>
        <p:spPr>
          <a:xfrm>
            <a:off x="3364992" y="1463040"/>
            <a:ext cx="2633472" cy="4206240"/>
          </a:xfrm>
          <a:prstGeom prst="roundRect">
            <a:avLst>
              <a:gd name="adj" fmla="val 4167"/>
            </a:avLst>
          </a:prstGeom>
          <a:solidFill>
            <a:schemeClr val="bg2"/>
          </a:solidFill>
          <a:ln w="12700">
            <a:solidFill>
              <a:schemeClr val="bg2"/>
            </a:solidFill>
            <a:prstDash val="solid"/>
          </a:ln>
        </p:spPr>
      </p:sp>
      <p:sp>
        <p:nvSpPr>
          <p:cNvPr id="10" name="story1-dot"/>
          <p:cNvSpPr/>
          <p:nvPr/>
        </p:nvSpPr>
        <p:spPr>
          <a:xfrm>
            <a:off x="3593592" y="1691640"/>
            <a:ext cx="566928" cy="566928"/>
          </a:xfrm>
          <a:prstGeom prst="ellipse">
            <a:avLst/>
          </a:prstGeom>
          <a:solidFill>
            <a:srgbClr val="F2CC8F"/>
          </a:solidFill>
          <a:ln w="12700">
            <a:solidFill>
              <a:srgbClr val="F2CC8F"/>
            </a:solidFill>
            <a:prstDash val="solid"/>
          </a:ln>
        </p:spPr>
      </p:sp>
      <p:pic>
        <p:nvPicPr>
          <p:cNvPr id="11" name="story1-icon" descr="preencoded.png">    </p:cNvPr>
          <p:cNvPicPr>
            <a:picLocks noChangeAspect="1"/>
          </p:cNvPicPr>
          <p:nvPr/>
        </p:nvPicPr>
        <p:blipFill>
          <a:blip r:embed="rId2"/>
          <a:stretch>
            <a:fillRect/>
          </a:stretch>
        </p:blipFill>
        <p:spPr>
          <a:xfrm>
            <a:off x="3721608" y="1819656"/>
            <a:ext cx="310896" cy="310896"/>
          </a:xfrm>
          <a:prstGeom prst="rect">
            <a:avLst/>
          </a:prstGeom>
        </p:spPr>
      </p:pic>
      <p:sp>
        <p:nvSpPr>
          <p:cNvPr id="12" name="story1-head"/>
          <p:cNvSpPr txBox="1"/>
          <p:nvPr/>
        </p:nvSpPr>
        <p:spPr>
          <a:xfrm>
            <a:off x="4279392" y="1664208"/>
            <a:ext cx="1581912" cy="594360"/>
          </a:xfrm>
          <a:prstGeom prst="rect">
            <a:avLst/>
          </a:prstGeom>
          <a:noFill/>
          <a:ln/>
        </p:spPr>
        <p:txBody>
          <a:bodyPr wrap="square" lIns="0" tIns="0" rIns="0" bIns="0" rtlCol="0" anchor="ctr"/>
          <a:lstStyle/>
          <a:p>
            <a:pPr indent="0" marL="0">
              <a:buNone/>
            </a:pPr>
            <a:r>
              <a:rPr lang="en-US" sz="1800" b="1" dirty="0">
                <a:solidFill>
                  <a:schemeClr val="tx1"/>
                </a:solidFill>
              </a:rPr>
              <a:t>2 · Idea</a:t>
            </a:r>
            <a:endParaRPr lang="en-US" sz="1800" dirty="0"/>
          </a:p>
        </p:txBody>
      </p:sp>
      <p:sp>
        <p:nvSpPr>
          <p:cNvPr id="13" name="story1-body"/>
          <p:cNvSpPr txBox="1"/>
          <p:nvPr/>
        </p:nvSpPr>
        <p:spPr>
          <a:xfrm>
            <a:off x="3593592" y="2377440"/>
            <a:ext cx="2176272" cy="3154680"/>
          </a:xfrm>
          <a:prstGeom prst="rect">
            <a:avLst/>
          </a:prstGeom>
          <a:noFill/>
          <a:ln/>
        </p:spPr>
        <p:txBody>
          <a:bodyPr wrap="square" lIns="0" tIns="0" rIns="0" bIns="0" rtlCol="0" anchor="t"/>
          <a:lstStyle/>
          <a:p>
            <a:pPr indent="0" marL="0">
              <a:buNone/>
            </a:pPr>
            <a:r>
              <a:rPr lang="en-US" sz="1600" dirty="0">
                <a:solidFill>
                  <a:schemeClr val="tx2"/>
                </a:solidFill>
              </a:rPr>
              <a:t>Treat each scan as an expert giving evidence. A missing scan simply says nothing — no faking.</a:t>
            </a:r>
            <a:endParaRPr lang="en-US" sz="1600" dirty="0"/>
          </a:p>
        </p:txBody>
      </p:sp>
      <p:sp>
        <p:nvSpPr>
          <p:cNvPr id="14" name="story2-card"/>
          <p:cNvSpPr/>
          <p:nvPr/>
        </p:nvSpPr>
        <p:spPr>
          <a:xfrm>
            <a:off x="6181344" y="1463040"/>
            <a:ext cx="2633472" cy="4206240"/>
          </a:xfrm>
          <a:prstGeom prst="roundRect">
            <a:avLst>
              <a:gd name="adj" fmla="val 4167"/>
            </a:avLst>
          </a:prstGeom>
          <a:solidFill>
            <a:schemeClr val="bg2"/>
          </a:solidFill>
          <a:ln w="12700">
            <a:solidFill>
              <a:schemeClr val="bg2"/>
            </a:solidFill>
            <a:prstDash val="solid"/>
          </a:ln>
        </p:spPr>
      </p:sp>
      <p:sp>
        <p:nvSpPr>
          <p:cNvPr id="15" name="story2-dot"/>
          <p:cNvSpPr/>
          <p:nvPr/>
        </p:nvSpPr>
        <p:spPr>
          <a:xfrm>
            <a:off x="6409944" y="1691640"/>
            <a:ext cx="566928" cy="566928"/>
          </a:xfrm>
          <a:prstGeom prst="ellipse">
            <a:avLst/>
          </a:prstGeom>
          <a:solidFill>
            <a:srgbClr val="1F7A8C"/>
          </a:solidFill>
          <a:ln w="12700">
            <a:solidFill>
              <a:srgbClr val="1F7A8C"/>
            </a:solidFill>
            <a:prstDash val="solid"/>
          </a:ln>
        </p:spPr>
      </p:sp>
      <p:pic>
        <p:nvPicPr>
          <p:cNvPr id="16" name="story2-icon" descr="preencoded.png">    </p:cNvPr>
          <p:cNvPicPr>
            <a:picLocks noChangeAspect="1"/>
          </p:cNvPicPr>
          <p:nvPr/>
        </p:nvPicPr>
        <p:blipFill>
          <a:blip r:embed="rId3"/>
          <a:stretch>
            <a:fillRect/>
          </a:stretch>
        </p:blipFill>
        <p:spPr>
          <a:xfrm>
            <a:off x="6537960" y="1819656"/>
            <a:ext cx="310896" cy="310896"/>
          </a:xfrm>
          <a:prstGeom prst="rect">
            <a:avLst/>
          </a:prstGeom>
        </p:spPr>
      </p:pic>
      <p:sp>
        <p:nvSpPr>
          <p:cNvPr id="17" name="story2-head"/>
          <p:cNvSpPr txBox="1"/>
          <p:nvPr/>
        </p:nvSpPr>
        <p:spPr>
          <a:xfrm>
            <a:off x="7095744" y="1664208"/>
            <a:ext cx="1581912" cy="594360"/>
          </a:xfrm>
          <a:prstGeom prst="rect">
            <a:avLst/>
          </a:prstGeom>
          <a:noFill/>
          <a:ln/>
        </p:spPr>
        <p:txBody>
          <a:bodyPr wrap="square" lIns="0" tIns="0" rIns="0" bIns="0" rtlCol="0" anchor="ctr"/>
          <a:lstStyle/>
          <a:p>
            <a:pPr indent="0" marL="0">
              <a:buNone/>
            </a:pPr>
            <a:r>
              <a:rPr lang="en-US" sz="1800" b="1" dirty="0">
                <a:solidFill>
                  <a:schemeClr val="tx1"/>
                </a:solidFill>
              </a:rPr>
              <a:t>3 · Build</a:t>
            </a:r>
            <a:endParaRPr lang="en-US" sz="1800" dirty="0"/>
          </a:p>
        </p:txBody>
      </p:sp>
      <p:sp>
        <p:nvSpPr>
          <p:cNvPr id="18" name="story2-body"/>
          <p:cNvSpPr txBox="1"/>
          <p:nvPr/>
        </p:nvSpPr>
        <p:spPr>
          <a:xfrm>
            <a:off x="6409944" y="2377440"/>
            <a:ext cx="2176272" cy="3154680"/>
          </a:xfrm>
          <a:prstGeom prst="rect">
            <a:avLst/>
          </a:prstGeom>
          <a:noFill/>
          <a:ln/>
        </p:spPr>
        <p:txBody>
          <a:bodyPr wrap="square" lIns="0" tIns="0" rIns="0" bIns="0" rtlCol="0" anchor="t"/>
          <a:lstStyle/>
          <a:p>
            <a:pPr indent="0" marL="0">
              <a:buNone/>
            </a:pPr>
            <a:r>
              <a:rPr lang="en-US" sz="1600" dirty="0">
                <a:solidFill>
                  <a:schemeClr val="tx2"/>
                </a:solidFill>
              </a:rPr>
              <a:t>One 3D network per scan, evidence fusion, uncertainty and explanations, tested on 98 real patients.</a:t>
            </a:r>
            <a:endParaRPr lang="en-US" sz="1600" dirty="0"/>
          </a:p>
        </p:txBody>
      </p:sp>
      <p:sp>
        <p:nvSpPr>
          <p:cNvPr id="19" name="story3-card"/>
          <p:cNvSpPr/>
          <p:nvPr/>
        </p:nvSpPr>
        <p:spPr>
          <a:xfrm>
            <a:off x="8997696" y="1463040"/>
            <a:ext cx="2633472" cy="4206240"/>
          </a:xfrm>
          <a:prstGeom prst="roundRect">
            <a:avLst>
              <a:gd name="adj" fmla="val 4167"/>
            </a:avLst>
          </a:prstGeom>
          <a:solidFill>
            <a:schemeClr val="bg2"/>
          </a:solidFill>
          <a:ln w="12700">
            <a:solidFill>
              <a:schemeClr val="bg2"/>
            </a:solidFill>
            <a:prstDash val="solid"/>
          </a:ln>
        </p:spPr>
      </p:sp>
      <p:sp>
        <p:nvSpPr>
          <p:cNvPr id="20" name="story3-dot"/>
          <p:cNvSpPr/>
          <p:nvPr/>
        </p:nvSpPr>
        <p:spPr>
          <a:xfrm>
            <a:off x="9226296" y="1691640"/>
            <a:ext cx="566928" cy="566928"/>
          </a:xfrm>
          <a:prstGeom prst="ellipse">
            <a:avLst/>
          </a:prstGeom>
          <a:solidFill>
            <a:srgbClr val="81B29A"/>
          </a:solidFill>
          <a:ln w="12700">
            <a:solidFill>
              <a:srgbClr val="81B29A"/>
            </a:solidFill>
            <a:prstDash val="solid"/>
          </a:ln>
        </p:spPr>
      </p:sp>
      <p:pic>
        <p:nvPicPr>
          <p:cNvPr id="21" name="story3-icon" descr="preencoded.png">    </p:cNvPr>
          <p:cNvPicPr>
            <a:picLocks noChangeAspect="1"/>
          </p:cNvPicPr>
          <p:nvPr/>
        </p:nvPicPr>
        <p:blipFill>
          <a:blip r:embed="rId4"/>
          <a:stretch>
            <a:fillRect/>
          </a:stretch>
        </p:blipFill>
        <p:spPr>
          <a:xfrm>
            <a:off x="9354312" y="1819656"/>
            <a:ext cx="310896" cy="310896"/>
          </a:xfrm>
          <a:prstGeom prst="rect">
            <a:avLst/>
          </a:prstGeom>
        </p:spPr>
      </p:pic>
      <p:sp>
        <p:nvSpPr>
          <p:cNvPr id="22" name="story3-head"/>
          <p:cNvSpPr txBox="1"/>
          <p:nvPr/>
        </p:nvSpPr>
        <p:spPr>
          <a:xfrm>
            <a:off x="9912096" y="1664208"/>
            <a:ext cx="1581912" cy="594360"/>
          </a:xfrm>
          <a:prstGeom prst="rect">
            <a:avLst/>
          </a:prstGeom>
          <a:noFill/>
          <a:ln/>
        </p:spPr>
        <p:txBody>
          <a:bodyPr wrap="square" lIns="0" tIns="0" rIns="0" bIns="0" rtlCol="0" anchor="ctr"/>
          <a:lstStyle/>
          <a:p>
            <a:pPr indent="0" marL="0">
              <a:buNone/>
            </a:pPr>
            <a:r>
              <a:rPr lang="en-US" sz="1800" b="1" dirty="0">
                <a:solidFill>
                  <a:schemeClr val="tx1"/>
                </a:solidFill>
              </a:rPr>
              <a:t>4 · Result</a:t>
            </a:r>
            <a:endParaRPr lang="en-US" sz="1800" dirty="0"/>
          </a:p>
        </p:txBody>
      </p:sp>
      <p:sp>
        <p:nvSpPr>
          <p:cNvPr id="23" name="story3-body"/>
          <p:cNvSpPr txBox="1"/>
          <p:nvPr/>
        </p:nvSpPr>
        <p:spPr>
          <a:xfrm>
            <a:off x="9226296" y="2377440"/>
            <a:ext cx="2176272" cy="3154680"/>
          </a:xfrm>
          <a:prstGeom prst="rect">
            <a:avLst/>
          </a:prstGeom>
          <a:noFill/>
          <a:ln/>
        </p:spPr>
        <p:txBody>
          <a:bodyPr wrap="square" lIns="0" tIns="0" rIns="0" bIns="0" rtlCol="0" anchor="t"/>
          <a:lstStyle/>
          <a:p>
            <a:pPr indent="0" marL="0">
              <a:buNone/>
            </a:pPr>
            <a:r>
              <a:rPr lang="en-US" sz="1600" dirty="0">
                <a:solidFill>
                  <a:schemeClr val="tx2"/>
                </a:solidFill>
              </a:rPr>
              <a:t>Matches the best published-style methods on accuracy, and adds trustworthy uncertainty and explanations.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Chapter 1 · The problem</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bg1"/>
                </a:solidFill>
              </a:rPr>
              <a:t>Why missing scans break today's medical AI</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A brain-tumour patient needs four kinds of MRI scan</a:t>
            </a:r>
            <a:endParaRPr lang="en-US" sz="3200" dirty="0"/>
          </a:p>
        </p:txBody>
      </p:sp>
      <p:sp>
        <p:nvSpPr>
          <p:cNvPr id="4" name="seq0-card"/>
          <p:cNvSpPr/>
          <p:nvPr/>
        </p:nvSpPr>
        <p:spPr>
          <a:xfrm>
            <a:off x="548640" y="1463040"/>
            <a:ext cx="2633472" cy="2926080"/>
          </a:xfrm>
          <a:prstGeom prst="roundRect">
            <a:avLst>
              <a:gd name="adj" fmla="val 4167"/>
            </a:avLst>
          </a:prstGeom>
          <a:solidFill>
            <a:schemeClr val="bg2"/>
          </a:solidFill>
          <a:ln w="12700">
            <a:solidFill>
              <a:schemeClr val="bg2"/>
            </a:solidFill>
            <a:prstDash val="solid"/>
          </a:ln>
        </p:spPr>
      </p:sp>
      <p:sp>
        <p:nvSpPr>
          <p:cNvPr id="5" name="seq0-dot"/>
          <p:cNvSpPr/>
          <p:nvPr/>
        </p:nvSpPr>
        <p:spPr>
          <a:xfrm>
            <a:off x="777240" y="1691640"/>
            <a:ext cx="566928" cy="566928"/>
          </a:xfrm>
          <a:prstGeom prst="ellipse">
            <a:avLst/>
          </a:prstGeom>
          <a:solidFill>
            <a:srgbClr val="1F7A8C"/>
          </a:solidFill>
          <a:ln w="12700">
            <a:solidFill>
              <a:srgbClr val="1F7A8C"/>
            </a:solidFill>
            <a:prstDash val="solid"/>
          </a:ln>
        </p:spPr>
      </p:sp>
      <p:pic>
        <p:nvPicPr>
          <p:cNvPr id="6" name="seq0-icon" descr="preencoded.png">    </p:cNvPr>
          <p:cNvPicPr>
            <a:picLocks noChangeAspect="1"/>
          </p:cNvPicPr>
          <p:nvPr/>
        </p:nvPicPr>
        <p:blipFill>
          <a:blip r:embed="rId1"/>
          <a:stretch>
            <a:fillRect/>
          </a:stretch>
        </p:blipFill>
        <p:spPr>
          <a:xfrm>
            <a:off x="905256" y="1819656"/>
            <a:ext cx="310896" cy="310896"/>
          </a:xfrm>
          <a:prstGeom prst="rect">
            <a:avLst/>
          </a:prstGeom>
        </p:spPr>
      </p:pic>
      <p:sp>
        <p:nvSpPr>
          <p:cNvPr id="7" name="seq0-head"/>
          <p:cNvSpPr txBox="1"/>
          <p:nvPr/>
        </p:nvSpPr>
        <p:spPr>
          <a:xfrm>
            <a:off x="1463040" y="1664208"/>
            <a:ext cx="1581912" cy="594360"/>
          </a:xfrm>
          <a:prstGeom prst="rect">
            <a:avLst/>
          </a:prstGeom>
          <a:noFill/>
          <a:ln/>
        </p:spPr>
        <p:txBody>
          <a:bodyPr wrap="square" lIns="0" tIns="0" rIns="0" bIns="0" rtlCol="0" anchor="ctr"/>
          <a:lstStyle/>
          <a:p>
            <a:pPr indent="0" marL="0">
              <a:buNone/>
            </a:pPr>
            <a:r>
              <a:rPr lang="en-US" sz="1800" b="1" dirty="0">
                <a:solidFill>
                  <a:schemeClr val="tx1"/>
                </a:solidFill>
              </a:rPr>
              <a:t>FLAIR</a:t>
            </a:r>
            <a:endParaRPr lang="en-US" sz="1800" dirty="0"/>
          </a:p>
        </p:txBody>
      </p:sp>
      <p:sp>
        <p:nvSpPr>
          <p:cNvPr id="8" name="seq0-body"/>
          <p:cNvSpPr txBox="1"/>
          <p:nvPr/>
        </p:nvSpPr>
        <p:spPr>
          <a:xfrm>
            <a:off x="777240" y="2377440"/>
            <a:ext cx="2176272" cy="1874520"/>
          </a:xfrm>
          <a:prstGeom prst="rect">
            <a:avLst/>
          </a:prstGeom>
          <a:noFill/>
          <a:ln/>
        </p:spPr>
        <p:txBody>
          <a:bodyPr wrap="square" lIns="0" tIns="0" rIns="0" bIns="0" rtlCol="0" anchor="t"/>
          <a:lstStyle/>
          <a:p>
            <a:pPr indent="0" marL="0">
              <a:buNone/>
            </a:pPr>
            <a:r>
              <a:rPr lang="en-US" sz="1600" dirty="0">
                <a:solidFill>
                  <a:schemeClr val="tx2"/>
                </a:solidFill>
              </a:rPr>
              <a:t>Highlights swelling (edema) around the tumour.</a:t>
            </a:r>
            <a:endParaRPr lang="en-US" sz="1600" dirty="0"/>
          </a:p>
        </p:txBody>
      </p:sp>
      <p:sp>
        <p:nvSpPr>
          <p:cNvPr id="9" name="seq1-card"/>
          <p:cNvSpPr/>
          <p:nvPr/>
        </p:nvSpPr>
        <p:spPr>
          <a:xfrm>
            <a:off x="3364992" y="1463040"/>
            <a:ext cx="2633472" cy="2926080"/>
          </a:xfrm>
          <a:prstGeom prst="roundRect">
            <a:avLst>
              <a:gd name="adj" fmla="val 4167"/>
            </a:avLst>
          </a:prstGeom>
          <a:solidFill>
            <a:schemeClr val="bg2"/>
          </a:solidFill>
          <a:ln w="12700">
            <a:solidFill>
              <a:schemeClr val="bg2"/>
            </a:solidFill>
            <a:prstDash val="solid"/>
          </a:ln>
        </p:spPr>
      </p:sp>
      <p:sp>
        <p:nvSpPr>
          <p:cNvPr id="10" name="seq1-dot"/>
          <p:cNvSpPr/>
          <p:nvPr/>
        </p:nvSpPr>
        <p:spPr>
          <a:xfrm>
            <a:off x="3593592" y="1691640"/>
            <a:ext cx="566928" cy="566928"/>
          </a:xfrm>
          <a:prstGeom prst="ellipse">
            <a:avLst/>
          </a:prstGeom>
          <a:solidFill>
            <a:srgbClr val="3D405B"/>
          </a:solidFill>
          <a:ln w="12700">
            <a:solidFill>
              <a:srgbClr val="3D405B"/>
            </a:solidFill>
            <a:prstDash val="solid"/>
          </a:ln>
        </p:spPr>
      </p:sp>
      <p:pic>
        <p:nvPicPr>
          <p:cNvPr id="11" name="seq1-icon" descr="preencoded.png">    </p:cNvPr>
          <p:cNvPicPr>
            <a:picLocks noChangeAspect="1"/>
          </p:cNvPicPr>
          <p:nvPr/>
        </p:nvPicPr>
        <p:blipFill>
          <a:blip r:embed="rId2"/>
          <a:stretch>
            <a:fillRect/>
          </a:stretch>
        </p:blipFill>
        <p:spPr>
          <a:xfrm>
            <a:off x="3721608" y="1819656"/>
            <a:ext cx="310896" cy="310896"/>
          </a:xfrm>
          <a:prstGeom prst="rect">
            <a:avLst/>
          </a:prstGeom>
        </p:spPr>
      </p:pic>
      <p:sp>
        <p:nvSpPr>
          <p:cNvPr id="12" name="seq1-head"/>
          <p:cNvSpPr txBox="1"/>
          <p:nvPr/>
        </p:nvSpPr>
        <p:spPr>
          <a:xfrm>
            <a:off x="4279392" y="1664208"/>
            <a:ext cx="1581912" cy="594360"/>
          </a:xfrm>
          <a:prstGeom prst="rect">
            <a:avLst/>
          </a:prstGeom>
          <a:noFill/>
          <a:ln/>
        </p:spPr>
        <p:txBody>
          <a:bodyPr wrap="square" lIns="0" tIns="0" rIns="0" bIns="0" rtlCol="0" anchor="ctr"/>
          <a:lstStyle/>
          <a:p>
            <a:pPr indent="0" marL="0">
              <a:buNone/>
            </a:pPr>
            <a:r>
              <a:rPr lang="en-US" sz="1800" b="1" dirty="0">
                <a:solidFill>
                  <a:schemeClr val="tx1"/>
                </a:solidFill>
              </a:rPr>
              <a:t>T1</a:t>
            </a:r>
            <a:endParaRPr lang="en-US" sz="1800" dirty="0"/>
          </a:p>
        </p:txBody>
      </p:sp>
      <p:sp>
        <p:nvSpPr>
          <p:cNvPr id="13" name="seq1-body"/>
          <p:cNvSpPr txBox="1"/>
          <p:nvPr/>
        </p:nvSpPr>
        <p:spPr>
          <a:xfrm>
            <a:off x="3593592" y="2377440"/>
            <a:ext cx="2176272" cy="1874520"/>
          </a:xfrm>
          <a:prstGeom prst="rect">
            <a:avLst/>
          </a:prstGeom>
          <a:noFill/>
          <a:ln/>
        </p:spPr>
        <p:txBody>
          <a:bodyPr wrap="square" lIns="0" tIns="0" rIns="0" bIns="0" rtlCol="0" anchor="t"/>
          <a:lstStyle/>
          <a:p>
            <a:pPr indent="0" marL="0">
              <a:buNone/>
            </a:pPr>
            <a:r>
              <a:rPr lang="en-US" sz="1600" dirty="0">
                <a:solidFill>
                  <a:schemeClr val="tx2"/>
                </a:solidFill>
              </a:rPr>
              <a:t>Shows normal anatomy clearly.</a:t>
            </a:r>
            <a:endParaRPr lang="en-US" sz="1600" dirty="0"/>
          </a:p>
        </p:txBody>
      </p:sp>
      <p:sp>
        <p:nvSpPr>
          <p:cNvPr id="14" name="seq2-card"/>
          <p:cNvSpPr/>
          <p:nvPr/>
        </p:nvSpPr>
        <p:spPr>
          <a:xfrm>
            <a:off x="6181344" y="1463040"/>
            <a:ext cx="2633472" cy="2926080"/>
          </a:xfrm>
          <a:prstGeom prst="roundRect">
            <a:avLst>
              <a:gd name="adj" fmla="val 4167"/>
            </a:avLst>
          </a:prstGeom>
          <a:solidFill>
            <a:schemeClr val="bg2"/>
          </a:solidFill>
          <a:ln w="12700">
            <a:solidFill>
              <a:schemeClr val="bg2"/>
            </a:solidFill>
            <a:prstDash val="solid"/>
          </a:ln>
        </p:spPr>
      </p:sp>
      <p:sp>
        <p:nvSpPr>
          <p:cNvPr id="15" name="seq2-dot"/>
          <p:cNvSpPr/>
          <p:nvPr/>
        </p:nvSpPr>
        <p:spPr>
          <a:xfrm>
            <a:off x="6409944" y="1691640"/>
            <a:ext cx="566928" cy="566928"/>
          </a:xfrm>
          <a:prstGeom prst="ellipse">
            <a:avLst/>
          </a:prstGeom>
          <a:solidFill>
            <a:srgbClr val="E07A5F"/>
          </a:solidFill>
          <a:ln w="12700">
            <a:solidFill>
              <a:srgbClr val="E07A5F"/>
            </a:solidFill>
            <a:prstDash val="solid"/>
          </a:ln>
        </p:spPr>
      </p:sp>
      <p:pic>
        <p:nvPicPr>
          <p:cNvPr id="16" name="seq2-icon" descr="preencoded.png">    </p:cNvPr>
          <p:cNvPicPr>
            <a:picLocks noChangeAspect="1"/>
          </p:cNvPicPr>
          <p:nvPr/>
        </p:nvPicPr>
        <p:blipFill>
          <a:blip r:embed="rId3"/>
          <a:stretch>
            <a:fillRect/>
          </a:stretch>
        </p:blipFill>
        <p:spPr>
          <a:xfrm>
            <a:off x="6537960" y="1819656"/>
            <a:ext cx="310896" cy="310896"/>
          </a:xfrm>
          <a:prstGeom prst="rect">
            <a:avLst/>
          </a:prstGeom>
        </p:spPr>
      </p:pic>
      <p:sp>
        <p:nvSpPr>
          <p:cNvPr id="17" name="seq2-head"/>
          <p:cNvSpPr txBox="1"/>
          <p:nvPr/>
        </p:nvSpPr>
        <p:spPr>
          <a:xfrm>
            <a:off x="7095744" y="1664208"/>
            <a:ext cx="1581912" cy="594360"/>
          </a:xfrm>
          <a:prstGeom prst="rect">
            <a:avLst/>
          </a:prstGeom>
          <a:noFill/>
          <a:ln/>
        </p:spPr>
        <p:txBody>
          <a:bodyPr wrap="square" lIns="0" tIns="0" rIns="0" bIns="0" rtlCol="0" anchor="ctr"/>
          <a:lstStyle/>
          <a:p>
            <a:pPr indent="0" marL="0">
              <a:buNone/>
            </a:pPr>
            <a:r>
              <a:rPr lang="en-US" sz="1800" b="1" dirty="0">
                <a:solidFill>
                  <a:schemeClr val="tx1"/>
                </a:solidFill>
              </a:rPr>
              <a:t>T1gd</a:t>
            </a:r>
            <a:endParaRPr lang="en-US" sz="1800" dirty="0"/>
          </a:p>
        </p:txBody>
      </p:sp>
      <p:sp>
        <p:nvSpPr>
          <p:cNvPr id="18" name="seq2-body"/>
          <p:cNvSpPr txBox="1"/>
          <p:nvPr/>
        </p:nvSpPr>
        <p:spPr>
          <a:xfrm>
            <a:off x="6409944" y="2377440"/>
            <a:ext cx="2176272" cy="1874520"/>
          </a:xfrm>
          <a:prstGeom prst="rect">
            <a:avLst/>
          </a:prstGeom>
          <a:noFill/>
          <a:ln/>
        </p:spPr>
        <p:txBody>
          <a:bodyPr wrap="square" lIns="0" tIns="0" rIns="0" bIns="0" rtlCol="0" anchor="t"/>
          <a:lstStyle/>
          <a:p>
            <a:pPr indent="0" marL="0">
              <a:buNone/>
            </a:pPr>
            <a:r>
              <a:rPr lang="en-US" sz="1600" dirty="0">
                <a:solidFill>
                  <a:schemeClr val="tx2"/>
                </a:solidFill>
              </a:rPr>
              <a:t>T1 after contrast dye: lights up the active, growing tumour.</a:t>
            </a:r>
            <a:endParaRPr lang="en-US" sz="1600" dirty="0"/>
          </a:p>
        </p:txBody>
      </p:sp>
      <p:sp>
        <p:nvSpPr>
          <p:cNvPr id="19" name="seq3-card"/>
          <p:cNvSpPr/>
          <p:nvPr/>
        </p:nvSpPr>
        <p:spPr>
          <a:xfrm>
            <a:off x="8997696" y="1463040"/>
            <a:ext cx="2633472" cy="2926080"/>
          </a:xfrm>
          <a:prstGeom prst="roundRect">
            <a:avLst>
              <a:gd name="adj" fmla="val 4167"/>
            </a:avLst>
          </a:prstGeom>
          <a:solidFill>
            <a:schemeClr val="bg2"/>
          </a:solidFill>
          <a:ln w="12700">
            <a:solidFill>
              <a:schemeClr val="bg2"/>
            </a:solidFill>
            <a:prstDash val="solid"/>
          </a:ln>
        </p:spPr>
      </p:sp>
      <p:sp>
        <p:nvSpPr>
          <p:cNvPr id="20" name="seq3-dot"/>
          <p:cNvSpPr/>
          <p:nvPr/>
        </p:nvSpPr>
        <p:spPr>
          <a:xfrm>
            <a:off x="9226296" y="1691640"/>
            <a:ext cx="566928" cy="566928"/>
          </a:xfrm>
          <a:prstGeom prst="ellipse">
            <a:avLst/>
          </a:prstGeom>
          <a:solidFill>
            <a:srgbClr val="9C6ADE"/>
          </a:solidFill>
          <a:ln w="12700">
            <a:solidFill>
              <a:srgbClr val="9C6ADE"/>
            </a:solidFill>
            <a:prstDash val="solid"/>
          </a:ln>
        </p:spPr>
      </p:sp>
      <p:pic>
        <p:nvPicPr>
          <p:cNvPr id="21" name="seq3-icon" descr="preencoded.png">    </p:cNvPr>
          <p:cNvPicPr>
            <a:picLocks noChangeAspect="1"/>
          </p:cNvPicPr>
          <p:nvPr/>
        </p:nvPicPr>
        <p:blipFill>
          <a:blip r:embed="rId4"/>
          <a:stretch>
            <a:fillRect/>
          </a:stretch>
        </p:blipFill>
        <p:spPr>
          <a:xfrm>
            <a:off x="9354312" y="1819656"/>
            <a:ext cx="310896" cy="310896"/>
          </a:xfrm>
          <a:prstGeom prst="rect">
            <a:avLst/>
          </a:prstGeom>
        </p:spPr>
      </p:pic>
      <p:sp>
        <p:nvSpPr>
          <p:cNvPr id="22" name="seq3-head"/>
          <p:cNvSpPr txBox="1"/>
          <p:nvPr/>
        </p:nvSpPr>
        <p:spPr>
          <a:xfrm>
            <a:off x="9912096" y="1664208"/>
            <a:ext cx="1581912" cy="594360"/>
          </a:xfrm>
          <a:prstGeom prst="rect">
            <a:avLst/>
          </a:prstGeom>
          <a:noFill/>
          <a:ln/>
        </p:spPr>
        <p:txBody>
          <a:bodyPr wrap="square" lIns="0" tIns="0" rIns="0" bIns="0" rtlCol="0" anchor="ctr"/>
          <a:lstStyle/>
          <a:p>
            <a:pPr indent="0" marL="0">
              <a:buNone/>
            </a:pPr>
            <a:r>
              <a:rPr lang="en-US" sz="1800" b="1" dirty="0">
                <a:solidFill>
                  <a:schemeClr val="tx1"/>
                </a:solidFill>
              </a:rPr>
              <a:t>T2</a:t>
            </a:r>
            <a:endParaRPr lang="en-US" sz="1800" dirty="0"/>
          </a:p>
        </p:txBody>
      </p:sp>
      <p:sp>
        <p:nvSpPr>
          <p:cNvPr id="23" name="seq3-body"/>
          <p:cNvSpPr txBox="1"/>
          <p:nvPr/>
        </p:nvSpPr>
        <p:spPr>
          <a:xfrm>
            <a:off x="9226296" y="2377440"/>
            <a:ext cx="2176272" cy="1874520"/>
          </a:xfrm>
          <a:prstGeom prst="rect">
            <a:avLst/>
          </a:prstGeom>
          <a:noFill/>
          <a:ln/>
        </p:spPr>
        <p:txBody>
          <a:bodyPr wrap="square" lIns="0" tIns="0" rIns="0" bIns="0" rtlCol="0" anchor="t"/>
          <a:lstStyle/>
          <a:p>
            <a:pPr indent="0" marL="0">
              <a:buNone/>
            </a:pPr>
            <a:r>
              <a:rPr lang="en-US" sz="1600" dirty="0">
                <a:solidFill>
                  <a:schemeClr val="tx2"/>
                </a:solidFill>
              </a:rPr>
              <a:t>Fluid-sensitive; shows tumour and swelling together.</a:t>
            </a:r>
            <a:endParaRPr lang="en-US" sz="1600" dirty="0"/>
          </a:p>
        </p:txBody>
      </p:sp>
      <p:sp>
        <p:nvSpPr>
          <p:cNvPr id="24" name="seq-job"/>
          <p:cNvSpPr txBox="1"/>
          <p:nvPr/>
        </p:nvSpPr>
        <p:spPr>
          <a:xfrm>
            <a:off x="548640" y="4754880"/>
            <a:ext cx="11064240" cy="640080"/>
          </a:xfrm>
          <a:prstGeom prst="rect">
            <a:avLst/>
          </a:prstGeom>
          <a:noFill/>
          <a:ln/>
        </p:spPr>
        <p:txBody>
          <a:bodyPr wrap="square" lIns="0" tIns="0" rIns="0" bIns="0" rtlCol="0" anchor="ctr"/>
          <a:lstStyle/>
          <a:p>
            <a:pPr indent="0" marL="0">
              <a:buNone/>
            </a:pPr>
            <a:r>
              <a:rPr lang="en-US" sz="1800" i="1" dirty="0">
                <a:solidFill>
                  <a:schemeClr val="accent1"/>
                </a:solidFill>
              </a:rPr>
              <a:t>The AI's job: outline the tumour and its parts on every 3D pixel (voxel) of the brain.</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In real hospitals, scans are often missing</a:t>
            </a:r>
            <a:endParaRPr lang="en-US" sz="3200" dirty="0"/>
          </a:p>
        </p:txBody>
      </p:sp>
      <p:sp>
        <p:nvSpPr>
          <p:cNvPr id="4" name="combos"/>
          <p:cNvSpPr txBox="1"/>
          <p:nvPr/>
        </p:nvSpPr>
        <p:spPr>
          <a:xfrm>
            <a:off x="548640" y="1463040"/>
            <a:ext cx="3291840" cy="2377440"/>
          </a:xfrm>
          <a:prstGeom prst="rect">
            <a:avLst/>
          </a:prstGeom>
          <a:noFill/>
          <a:ln/>
        </p:spPr>
        <p:txBody>
          <a:bodyPr wrap="square" lIns="0" tIns="0" rIns="0" bIns="0" rtlCol="0" anchor="ctr"/>
          <a:lstStyle/>
          <a:p>
            <a:pPr indent="0" marL="0">
              <a:buNone/>
            </a:pPr>
            <a:r>
              <a:rPr lang="en-US" sz="7200" b="1" dirty="0">
                <a:solidFill>
                  <a:schemeClr val="accent2"/>
                </a:solidFill>
              </a:rPr>
              <a:t>15</a:t>
            </a:r>
            <a:pPr indent="0" marL="0">
              <a:buNone/>
            </a:pPr>
            <a:endParaRPr lang="en-US" sz="7200" dirty="0"/>
          </a:p>
          <a:p>
            <a:pPr indent="0" marL="0">
              <a:buNone/>
            </a:pPr>
            <a:r>
              <a:rPr lang="en-US" sz="1600" dirty="0">
                <a:solidFill>
                  <a:schemeClr val="tx2"/>
                </a:solidFill>
              </a:rPr>
              <a:t>possible combinations of available scans</a:t>
            </a:r>
            <a:endParaRPr lang="en-US" sz="7200" dirty="0"/>
          </a:p>
        </p:txBody>
      </p:sp>
      <p:sp>
        <p:nvSpPr>
          <p:cNvPr id="5" name="fail-head"/>
          <p:cNvSpPr txBox="1"/>
          <p:nvPr/>
        </p:nvSpPr>
        <p:spPr>
          <a:xfrm>
            <a:off x="4206240" y="1371600"/>
            <a:ext cx="7406640" cy="457200"/>
          </a:xfrm>
          <a:prstGeom prst="rect">
            <a:avLst/>
          </a:prstGeom>
          <a:noFill/>
          <a:ln/>
        </p:spPr>
        <p:txBody>
          <a:bodyPr wrap="square" lIns="0" tIns="0" rIns="0" bIns="0" rtlCol="0" anchor="ctr"/>
          <a:lstStyle/>
          <a:p>
            <a:pPr indent="0" marL="0">
              <a:buNone/>
            </a:pPr>
            <a:r>
              <a:rPr lang="en-US" sz="2000" b="1" dirty="0">
                <a:solidFill>
                  <a:schemeClr val="tx1"/>
                </a:solidFill>
              </a:rPr>
              <a:t>How today's AI copes — and why it fails</a:t>
            </a:r>
            <a:endParaRPr lang="en-US" sz="2000" dirty="0"/>
          </a:p>
        </p:txBody>
      </p:sp>
      <p:sp>
        <p:nvSpPr>
          <p:cNvPr id="6" name="fail-list"/>
          <p:cNvSpPr txBox="1"/>
          <p:nvPr/>
        </p:nvSpPr>
        <p:spPr>
          <a:xfrm>
            <a:off x="4206240" y="1920240"/>
            <a:ext cx="7406640" cy="3108960"/>
          </a:xfrm>
          <a:prstGeom prst="rect">
            <a:avLst/>
          </a:prstGeom>
          <a:noFill/>
          <a:ln/>
        </p:spPr>
        <p:txBody>
          <a:bodyPr wrap="square" lIns="0" tIns="0" rIns="0" bIns="0" rtlCol="0" anchor="ctr"/>
          <a:lstStyle/>
          <a:p>
            <a:pPr marL="342900" indent="-342900">
              <a:spcAft>
                <a:spcPts val="800"/>
              </a:spcAft>
              <a:buSzPct val="100000"/>
              <a:buChar char="•"/>
            </a:pPr>
            <a:r>
              <a:rPr lang="en-US" sz="1700" dirty="0">
                <a:solidFill>
                  <a:schemeClr val="tx2"/>
                </a:solidFill>
              </a:rPr>
              <a:t>Fake the missing scan with a generative AI — the model then trusts invented data</a:t>
            </a:r>
            <a:endParaRPr lang="en-US" sz="1700" dirty="0"/>
          </a:p>
          <a:p>
            <a:pPr marL="342900" indent="-342900">
              <a:spcAft>
                <a:spcPts val="800"/>
              </a:spcAft>
              <a:buSzPct val="100000"/>
              <a:buChar char="•"/>
            </a:pPr>
            <a:r>
              <a:rPr lang="en-US" sz="1700" dirty="0">
                <a:solidFill>
                  <a:schemeClr val="tx2"/>
                </a:solidFill>
              </a:rPr>
              <a:t>Fill it with zeros — the network never saw that in training and fails silently</a:t>
            </a:r>
            <a:endParaRPr lang="en-US" sz="1700" dirty="0"/>
          </a:p>
          <a:p>
            <a:pPr marL="342900" indent="-342900">
              <a:spcAft>
                <a:spcPts val="800"/>
              </a:spcAft>
              <a:buSzPct val="100000"/>
              <a:buChar char="•"/>
            </a:pPr>
            <a:r>
              <a:rPr lang="en-US" sz="1700" dirty="0">
                <a:solidFill>
                  <a:schemeClr val="tx2"/>
                </a:solidFill>
              </a:rPr>
              <a:t>Train 15 separate models — impractical to build, validate and deploy</a:t>
            </a:r>
            <a:endParaRPr lang="en-US" sz="1700" dirty="0"/>
          </a:p>
          <a:p>
            <a:pPr marL="342900" indent="-342900">
              <a:spcAft>
                <a:spcPts val="800"/>
              </a:spcAft>
              <a:buSzPct val="100000"/>
              <a:buChar char="•"/>
            </a:pPr>
            <a:r>
              <a:rPr lang="en-US" sz="1700" dirty="0">
                <a:solidFill>
                  <a:schemeClr val="tx2"/>
                </a:solidFill>
              </a:rPr>
              <a:t>Drop the patient — the patients who most need help are excluded</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Chapter 2 · The vocabulary</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bg1"/>
                </a:solidFill>
              </a:rPr>
              <a:t>Every technical word, in plain language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Words about images and results</a:t>
            </a:r>
            <a:endParaRPr lang="en-US" sz="3200" dirty="0"/>
          </a:p>
        </p:txBody>
      </p:sp>
      <p:sp>
        <p:nvSpPr>
          <p:cNvPr id="3" name="t1-0-box"/>
          <p:cNvSpPr/>
          <p:nvPr/>
        </p:nvSpPr>
        <p:spPr>
          <a:xfrm>
            <a:off x="548640" y="1371600"/>
            <a:ext cx="3566160" cy="2286000"/>
          </a:xfrm>
          <a:prstGeom prst="roundRect">
            <a:avLst>
              <a:gd name="adj" fmla="val 4000"/>
            </a:avLst>
          </a:prstGeom>
          <a:solidFill>
            <a:schemeClr val="bg2"/>
          </a:solidFill>
          <a:ln w="12700">
            <a:solidFill>
              <a:schemeClr val="bg2"/>
            </a:solidFill>
            <a:prstDash val="solid"/>
          </a:ln>
        </p:spPr>
      </p:sp>
      <p:sp>
        <p:nvSpPr>
          <p:cNvPr id="4" name="t1-0-text"/>
          <p:cNvSpPr txBox="1"/>
          <p:nvPr/>
        </p:nvSpPr>
        <p:spPr>
          <a:xfrm>
            <a:off x="731520" y="1481328"/>
            <a:ext cx="3200400" cy="2066544"/>
          </a:xfrm>
          <a:prstGeom prst="rect">
            <a:avLst/>
          </a:prstGeom>
          <a:noFill/>
          <a:ln/>
        </p:spPr>
        <p:txBody>
          <a:bodyPr wrap="square" lIns="0" tIns="0" rIns="0" bIns="0" rtlCol="0" anchor="t"/>
          <a:lstStyle/>
          <a:p>
            <a:pPr indent="0" marL="0">
              <a:buNone/>
            </a:pPr>
            <a:r>
              <a:rPr lang="en-US" sz="1700" b="1" dirty="0">
                <a:solidFill>
                  <a:schemeClr val="accent1"/>
                </a:solidFill>
              </a:rPr>
              <a:t>Segmentation
</a:t>
            </a:r>
            <a:pPr indent="0" marL="0">
              <a:buNone/>
            </a:pPr>
            <a:r>
              <a:rPr lang="en-US" sz="1400" dirty="0">
                <a:solidFill>
                  <a:schemeClr val="tx2"/>
                </a:solidFill>
              </a:rPr>
              <a:t>Colouring every voxel by what it is (healthy, swelling, tumour core, active tumour).</a:t>
            </a:r>
            <a:endParaRPr lang="en-US" sz="1700" dirty="0"/>
          </a:p>
        </p:txBody>
      </p:sp>
      <p:sp>
        <p:nvSpPr>
          <p:cNvPr id="5" name="t1-1-box"/>
          <p:cNvSpPr/>
          <p:nvPr/>
        </p:nvSpPr>
        <p:spPr>
          <a:xfrm>
            <a:off x="4297680" y="1371600"/>
            <a:ext cx="3566160" cy="2286000"/>
          </a:xfrm>
          <a:prstGeom prst="roundRect">
            <a:avLst>
              <a:gd name="adj" fmla="val 4000"/>
            </a:avLst>
          </a:prstGeom>
          <a:solidFill>
            <a:schemeClr val="bg2"/>
          </a:solidFill>
          <a:ln w="12700">
            <a:solidFill>
              <a:schemeClr val="bg2"/>
            </a:solidFill>
            <a:prstDash val="solid"/>
          </a:ln>
        </p:spPr>
      </p:sp>
      <p:sp>
        <p:nvSpPr>
          <p:cNvPr id="6" name="t1-1-text"/>
          <p:cNvSpPr txBox="1"/>
          <p:nvPr/>
        </p:nvSpPr>
        <p:spPr>
          <a:xfrm>
            <a:off x="4480560" y="1481328"/>
            <a:ext cx="3200400" cy="2066544"/>
          </a:xfrm>
          <a:prstGeom prst="rect">
            <a:avLst/>
          </a:prstGeom>
          <a:noFill/>
          <a:ln/>
        </p:spPr>
        <p:txBody>
          <a:bodyPr wrap="square" lIns="0" tIns="0" rIns="0" bIns="0" rtlCol="0" anchor="t"/>
          <a:lstStyle/>
          <a:p>
            <a:pPr indent="0" marL="0">
              <a:buNone/>
            </a:pPr>
            <a:r>
              <a:rPr lang="en-US" sz="1700" b="1" dirty="0">
                <a:solidFill>
                  <a:schemeClr val="accent1"/>
                </a:solidFill>
              </a:rPr>
              <a:t>Voxel
</a:t>
            </a:r>
            <a:pPr indent="0" marL="0">
              <a:buNone/>
            </a:pPr>
            <a:r>
              <a:rPr lang="en-US" sz="1400" dirty="0">
                <a:solidFill>
                  <a:schemeClr val="tx2"/>
                </a:solidFill>
              </a:rPr>
              <a:t>A 3D pixel — here 1 mm × 1 mm × 1 mm of brain.</a:t>
            </a:r>
            <a:endParaRPr lang="en-US" sz="1700" dirty="0"/>
          </a:p>
        </p:txBody>
      </p:sp>
      <p:sp>
        <p:nvSpPr>
          <p:cNvPr id="7" name="t1-2-box"/>
          <p:cNvSpPr/>
          <p:nvPr/>
        </p:nvSpPr>
        <p:spPr>
          <a:xfrm>
            <a:off x="8046720" y="1371600"/>
            <a:ext cx="3566160" cy="2286000"/>
          </a:xfrm>
          <a:prstGeom prst="roundRect">
            <a:avLst>
              <a:gd name="adj" fmla="val 4000"/>
            </a:avLst>
          </a:prstGeom>
          <a:solidFill>
            <a:schemeClr val="bg2"/>
          </a:solidFill>
          <a:ln w="12700">
            <a:solidFill>
              <a:schemeClr val="bg2"/>
            </a:solidFill>
            <a:prstDash val="solid"/>
          </a:ln>
        </p:spPr>
      </p:sp>
      <p:sp>
        <p:nvSpPr>
          <p:cNvPr id="8" name="t1-2-text"/>
          <p:cNvSpPr txBox="1"/>
          <p:nvPr/>
        </p:nvSpPr>
        <p:spPr>
          <a:xfrm>
            <a:off x="8229600" y="1481328"/>
            <a:ext cx="3200400" cy="2066544"/>
          </a:xfrm>
          <a:prstGeom prst="rect">
            <a:avLst/>
          </a:prstGeom>
          <a:noFill/>
          <a:ln/>
        </p:spPr>
        <p:txBody>
          <a:bodyPr wrap="square" lIns="0" tIns="0" rIns="0" bIns="0" rtlCol="0" anchor="t"/>
          <a:lstStyle/>
          <a:p>
            <a:pPr indent="0" marL="0">
              <a:buNone/>
            </a:pPr>
            <a:r>
              <a:rPr lang="en-US" sz="1700" b="1" dirty="0">
                <a:solidFill>
                  <a:schemeClr val="accent1"/>
                </a:solidFill>
              </a:rPr>
              <a:t>WT / TC / ET
</a:t>
            </a:r>
            <a:pPr indent="0" marL="0">
              <a:buNone/>
            </a:pPr>
            <a:r>
              <a:rPr lang="en-US" sz="1400" dirty="0">
                <a:solidFill>
                  <a:schemeClr val="tx2"/>
                </a:solidFill>
              </a:rPr>
              <a:t>Whole tumour, tumour core, enhancing (active) tumour — the three regions doctors care about.</a:t>
            </a:r>
            <a:endParaRPr lang="en-US" sz="1700" dirty="0"/>
          </a:p>
        </p:txBody>
      </p:sp>
      <p:sp>
        <p:nvSpPr>
          <p:cNvPr id="9" name="t1-3-box"/>
          <p:cNvSpPr/>
          <p:nvPr/>
        </p:nvSpPr>
        <p:spPr>
          <a:xfrm>
            <a:off x="548640" y="3886200"/>
            <a:ext cx="3566160" cy="2286000"/>
          </a:xfrm>
          <a:prstGeom prst="roundRect">
            <a:avLst>
              <a:gd name="adj" fmla="val 4000"/>
            </a:avLst>
          </a:prstGeom>
          <a:solidFill>
            <a:schemeClr val="bg2"/>
          </a:solidFill>
          <a:ln w="12700">
            <a:solidFill>
              <a:schemeClr val="bg2"/>
            </a:solidFill>
            <a:prstDash val="solid"/>
          </a:ln>
        </p:spPr>
      </p:sp>
      <p:sp>
        <p:nvSpPr>
          <p:cNvPr id="10" name="t1-3-text"/>
          <p:cNvSpPr txBox="1"/>
          <p:nvPr/>
        </p:nvSpPr>
        <p:spPr>
          <a:xfrm>
            <a:off x="731520" y="3995928"/>
            <a:ext cx="3200400" cy="2066544"/>
          </a:xfrm>
          <a:prstGeom prst="rect">
            <a:avLst/>
          </a:prstGeom>
          <a:noFill/>
          <a:ln/>
        </p:spPr>
        <p:txBody>
          <a:bodyPr wrap="square" lIns="0" tIns="0" rIns="0" bIns="0" rtlCol="0" anchor="t"/>
          <a:lstStyle/>
          <a:p>
            <a:pPr indent="0" marL="0">
              <a:buNone/>
            </a:pPr>
            <a:r>
              <a:rPr lang="en-US" sz="1700" b="1" dirty="0">
                <a:solidFill>
                  <a:schemeClr val="accent1"/>
                </a:solidFill>
              </a:rPr>
              <a:t>Dice score
</a:t>
            </a:r>
            <a:pPr indent="0" marL="0">
              <a:buNone/>
            </a:pPr>
            <a:r>
              <a:rPr lang="en-US" sz="1400" dirty="0">
                <a:solidFill>
                  <a:schemeClr val="tx2"/>
                </a:solidFill>
              </a:rPr>
              <a:t>Overlap between AI outline and expert outline: 0 = none, 1 = perfect.</a:t>
            </a:r>
            <a:endParaRPr lang="en-US" sz="1700" dirty="0"/>
          </a:p>
        </p:txBody>
      </p:sp>
      <p:sp>
        <p:nvSpPr>
          <p:cNvPr id="11" name="t1-4-box"/>
          <p:cNvSpPr/>
          <p:nvPr/>
        </p:nvSpPr>
        <p:spPr>
          <a:xfrm>
            <a:off x="4297680" y="3886200"/>
            <a:ext cx="3566160" cy="2286000"/>
          </a:xfrm>
          <a:prstGeom prst="roundRect">
            <a:avLst>
              <a:gd name="adj" fmla="val 4000"/>
            </a:avLst>
          </a:prstGeom>
          <a:solidFill>
            <a:schemeClr val="bg2"/>
          </a:solidFill>
          <a:ln w="12700">
            <a:solidFill>
              <a:schemeClr val="bg2"/>
            </a:solidFill>
            <a:prstDash val="solid"/>
          </a:ln>
        </p:spPr>
      </p:sp>
      <p:sp>
        <p:nvSpPr>
          <p:cNvPr id="12" name="t1-4-text"/>
          <p:cNvSpPr txBox="1"/>
          <p:nvPr/>
        </p:nvSpPr>
        <p:spPr>
          <a:xfrm>
            <a:off x="4480560" y="3995928"/>
            <a:ext cx="3200400" cy="2066544"/>
          </a:xfrm>
          <a:prstGeom prst="rect">
            <a:avLst/>
          </a:prstGeom>
          <a:noFill/>
          <a:ln/>
        </p:spPr>
        <p:txBody>
          <a:bodyPr wrap="square" lIns="0" tIns="0" rIns="0" bIns="0" rtlCol="0" anchor="t"/>
          <a:lstStyle/>
          <a:p>
            <a:pPr indent="0" marL="0">
              <a:buNone/>
            </a:pPr>
            <a:r>
              <a:rPr lang="en-US" sz="1700" b="1" dirty="0">
                <a:solidFill>
                  <a:schemeClr val="accent1"/>
                </a:solidFill>
              </a:rPr>
              <a:t>HD95
</a:t>
            </a:r>
            <a:pPr indent="0" marL="0">
              <a:buNone/>
            </a:pPr>
            <a:r>
              <a:rPr lang="en-US" sz="1400" dirty="0">
                <a:solidFill>
                  <a:schemeClr val="tx2"/>
                </a:solidFill>
              </a:rPr>
              <a:t>How far (mm) the AI's border strays from the true border; lower is better.</a:t>
            </a:r>
            <a:endParaRPr lang="en-US" sz="1700" dirty="0"/>
          </a:p>
        </p:txBody>
      </p:sp>
      <p:sp>
        <p:nvSpPr>
          <p:cNvPr id="13" name="t1-5-box"/>
          <p:cNvSpPr/>
          <p:nvPr/>
        </p:nvSpPr>
        <p:spPr>
          <a:xfrm>
            <a:off x="8046720" y="3886200"/>
            <a:ext cx="3566160" cy="2286000"/>
          </a:xfrm>
          <a:prstGeom prst="roundRect">
            <a:avLst>
              <a:gd name="adj" fmla="val 4000"/>
            </a:avLst>
          </a:prstGeom>
          <a:solidFill>
            <a:schemeClr val="bg2"/>
          </a:solidFill>
          <a:ln w="12700">
            <a:solidFill>
              <a:schemeClr val="bg2"/>
            </a:solidFill>
            <a:prstDash val="solid"/>
          </a:ln>
        </p:spPr>
      </p:sp>
      <p:sp>
        <p:nvSpPr>
          <p:cNvPr id="14" name="t1-5-text"/>
          <p:cNvSpPr txBox="1"/>
          <p:nvPr/>
        </p:nvSpPr>
        <p:spPr>
          <a:xfrm>
            <a:off x="8229600" y="3995928"/>
            <a:ext cx="3200400" cy="2066544"/>
          </a:xfrm>
          <a:prstGeom prst="rect">
            <a:avLst/>
          </a:prstGeom>
          <a:noFill/>
          <a:ln/>
        </p:spPr>
        <p:txBody>
          <a:bodyPr wrap="square" lIns="0" tIns="0" rIns="0" bIns="0" rtlCol="0" anchor="t"/>
          <a:lstStyle/>
          <a:p>
            <a:pPr indent="0" marL="0">
              <a:buNone/>
            </a:pPr>
            <a:r>
              <a:rPr lang="en-US" sz="1700" b="1" dirty="0">
                <a:solidFill>
                  <a:schemeClr val="accent1"/>
                </a:solidFill>
              </a:rPr>
              <a:t>Missing modality
</a:t>
            </a:r>
            <a:pPr indent="0" marL="0">
              <a:buNone/>
            </a:pPr>
            <a:r>
              <a:rPr lang="en-US" sz="1400" dirty="0">
                <a:solidFill>
                  <a:schemeClr val="tx2"/>
                </a:solidFill>
              </a:rPr>
              <a:t>A scan type that was not acquired for this patient.</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Words about neural networks</a:t>
            </a:r>
            <a:endParaRPr lang="en-US" sz="3200" dirty="0"/>
          </a:p>
        </p:txBody>
      </p:sp>
      <p:sp>
        <p:nvSpPr>
          <p:cNvPr id="3" name="t2-0-box"/>
          <p:cNvSpPr/>
          <p:nvPr/>
        </p:nvSpPr>
        <p:spPr>
          <a:xfrm>
            <a:off x="548640" y="1371600"/>
            <a:ext cx="3566160" cy="2286000"/>
          </a:xfrm>
          <a:prstGeom prst="roundRect">
            <a:avLst>
              <a:gd name="adj" fmla="val 4000"/>
            </a:avLst>
          </a:prstGeom>
          <a:solidFill>
            <a:schemeClr val="bg2"/>
          </a:solidFill>
          <a:ln w="12700">
            <a:solidFill>
              <a:schemeClr val="bg2"/>
            </a:solidFill>
            <a:prstDash val="solid"/>
          </a:ln>
        </p:spPr>
      </p:sp>
      <p:sp>
        <p:nvSpPr>
          <p:cNvPr id="4" name="t2-0-text"/>
          <p:cNvSpPr txBox="1"/>
          <p:nvPr/>
        </p:nvSpPr>
        <p:spPr>
          <a:xfrm>
            <a:off x="731520" y="1481328"/>
            <a:ext cx="3200400" cy="2066544"/>
          </a:xfrm>
          <a:prstGeom prst="rect">
            <a:avLst/>
          </a:prstGeom>
          <a:noFill/>
          <a:ln/>
        </p:spPr>
        <p:txBody>
          <a:bodyPr wrap="square" lIns="0" tIns="0" rIns="0" bIns="0" rtlCol="0" anchor="t"/>
          <a:lstStyle/>
          <a:p>
            <a:pPr indent="0" marL="0">
              <a:buNone/>
            </a:pPr>
            <a:r>
              <a:rPr lang="en-US" sz="1700" b="1" dirty="0">
                <a:solidFill>
                  <a:schemeClr val="accent5"/>
                </a:solidFill>
              </a:rPr>
              <a:t>Neural network
</a:t>
            </a:r>
            <a:pPr indent="0" marL="0">
              <a:buNone/>
            </a:pPr>
            <a:r>
              <a:rPr lang="en-US" sz="1400" dirty="0">
                <a:solidFill>
                  <a:schemeClr val="tx2"/>
                </a:solidFill>
              </a:rPr>
              <a:t>A program that learns patterns from examples instead of hand-written rules.</a:t>
            </a:r>
            <a:endParaRPr lang="en-US" sz="1700" dirty="0"/>
          </a:p>
        </p:txBody>
      </p:sp>
      <p:sp>
        <p:nvSpPr>
          <p:cNvPr id="5" name="t2-1-box"/>
          <p:cNvSpPr/>
          <p:nvPr/>
        </p:nvSpPr>
        <p:spPr>
          <a:xfrm>
            <a:off x="4297680" y="1371600"/>
            <a:ext cx="3566160" cy="2286000"/>
          </a:xfrm>
          <a:prstGeom prst="roundRect">
            <a:avLst>
              <a:gd name="adj" fmla="val 4000"/>
            </a:avLst>
          </a:prstGeom>
          <a:solidFill>
            <a:schemeClr val="bg2"/>
          </a:solidFill>
          <a:ln w="12700">
            <a:solidFill>
              <a:schemeClr val="bg2"/>
            </a:solidFill>
            <a:prstDash val="solid"/>
          </a:ln>
        </p:spPr>
      </p:sp>
      <p:sp>
        <p:nvSpPr>
          <p:cNvPr id="6" name="t2-1-text"/>
          <p:cNvSpPr txBox="1"/>
          <p:nvPr/>
        </p:nvSpPr>
        <p:spPr>
          <a:xfrm>
            <a:off x="4480560" y="1481328"/>
            <a:ext cx="3200400" cy="2066544"/>
          </a:xfrm>
          <a:prstGeom prst="rect">
            <a:avLst/>
          </a:prstGeom>
          <a:noFill/>
          <a:ln/>
        </p:spPr>
        <p:txBody>
          <a:bodyPr wrap="square" lIns="0" tIns="0" rIns="0" bIns="0" rtlCol="0" anchor="t"/>
          <a:lstStyle/>
          <a:p>
            <a:pPr indent="0" marL="0">
              <a:buNone/>
            </a:pPr>
            <a:r>
              <a:rPr lang="en-US" sz="1700" b="1" dirty="0">
                <a:solidFill>
                  <a:schemeClr val="accent5"/>
                </a:solidFill>
              </a:rPr>
              <a:t>3D U-Net
</a:t>
            </a:r>
            <a:pPr indent="0" marL="0">
              <a:buNone/>
            </a:pPr>
            <a:r>
              <a:rPr lang="en-US" sz="1400" dirty="0">
                <a:solidFill>
                  <a:schemeClr val="tx2"/>
                </a:solidFill>
              </a:rPr>
              <a:t>The standard medical-image network: shrinks the scan to see context, then expands back to full detail.</a:t>
            </a:r>
            <a:endParaRPr lang="en-US" sz="1700" dirty="0"/>
          </a:p>
        </p:txBody>
      </p:sp>
      <p:sp>
        <p:nvSpPr>
          <p:cNvPr id="7" name="t2-2-box"/>
          <p:cNvSpPr/>
          <p:nvPr/>
        </p:nvSpPr>
        <p:spPr>
          <a:xfrm>
            <a:off x="8046720" y="1371600"/>
            <a:ext cx="3566160" cy="2286000"/>
          </a:xfrm>
          <a:prstGeom prst="roundRect">
            <a:avLst>
              <a:gd name="adj" fmla="val 4000"/>
            </a:avLst>
          </a:prstGeom>
          <a:solidFill>
            <a:schemeClr val="bg2"/>
          </a:solidFill>
          <a:ln w="12700">
            <a:solidFill>
              <a:schemeClr val="bg2"/>
            </a:solidFill>
            <a:prstDash val="solid"/>
          </a:ln>
        </p:spPr>
      </p:sp>
      <p:sp>
        <p:nvSpPr>
          <p:cNvPr id="8" name="t2-2-text"/>
          <p:cNvSpPr txBox="1"/>
          <p:nvPr/>
        </p:nvSpPr>
        <p:spPr>
          <a:xfrm>
            <a:off x="8229600" y="1481328"/>
            <a:ext cx="3200400" cy="2066544"/>
          </a:xfrm>
          <a:prstGeom prst="rect">
            <a:avLst/>
          </a:prstGeom>
          <a:noFill/>
          <a:ln/>
        </p:spPr>
        <p:txBody>
          <a:bodyPr wrap="square" lIns="0" tIns="0" rIns="0" bIns="0" rtlCol="0" anchor="t"/>
          <a:lstStyle/>
          <a:p>
            <a:pPr indent="0" marL="0">
              <a:buNone/>
            </a:pPr>
            <a:r>
              <a:rPr lang="en-US" sz="1700" b="1" dirty="0">
                <a:solidFill>
                  <a:schemeClr val="accent5"/>
                </a:solidFill>
              </a:rPr>
              <a:t>Encoder / decoder
</a:t>
            </a:r>
            <a:pPr indent="0" marL="0">
              <a:buNone/>
            </a:pPr>
            <a:r>
              <a:rPr lang="en-US" sz="1400" dirty="0">
                <a:solidFill>
                  <a:schemeClr val="tx2"/>
                </a:solidFill>
              </a:rPr>
              <a:t>The shrinking half (understands) and the expanding half (draws the outline).</a:t>
            </a:r>
            <a:endParaRPr lang="en-US" sz="1700" dirty="0"/>
          </a:p>
        </p:txBody>
      </p:sp>
      <p:sp>
        <p:nvSpPr>
          <p:cNvPr id="9" name="t2-3-box"/>
          <p:cNvSpPr/>
          <p:nvPr/>
        </p:nvSpPr>
        <p:spPr>
          <a:xfrm>
            <a:off x="548640" y="3886200"/>
            <a:ext cx="3566160" cy="2286000"/>
          </a:xfrm>
          <a:prstGeom prst="roundRect">
            <a:avLst>
              <a:gd name="adj" fmla="val 4000"/>
            </a:avLst>
          </a:prstGeom>
          <a:solidFill>
            <a:schemeClr val="bg2"/>
          </a:solidFill>
          <a:ln w="12700">
            <a:solidFill>
              <a:schemeClr val="bg2"/>
            </a:solidFill>
            <a:prstDash val="solid"/>
          </a:ln>
        </p:spPr>
      </p:sp>
      <p:sp>
        <p:nvSpPr>
          <p:cNvPr id="10" name="t2-3-text"/>
          <p:cNvSpPr txBox="1"/>
          <p:nvPr/>
        </p:nvSpPr>
        <p:spPr>
          <a:xfrm>
            <a:off x="731520" y="3995928"/>
            <a:ext cx="3200400" cy="2066544"/>
          </a:xfrm>
          <a:prstGeom prst="rect">
            <a:avLst/>
          </a:prstGeom>
          <a:noFill/>
          <a:ln/>
        </p:spPr>
        <p:txBody>
          <a:bodyPr wrap="square" lIns="0" tIns="0" rIns="0" bIns="0" rtlCol="0" anchor="t"/>
          <a:lstStyle/>
          <a:p>
            <a:pPr indent="0" marL="0">
              <a:buNone/>
            </a:pPr>
            <a:r>
              <a:rPr lang="en-US" sz="1700" b="1" dirty="0">
                <a:solidFill>
                  <a:schemeClr val="accent5"/>
                </a:solidFill>
              </a:rPr>
              <a:t>Training / validation / test
</a:t>
            </a:r>
            <a:pPr indent="0" marL="0">
              <a:buNone/>
            </a:pPr>
            <a:r>
              <a:rPr lang="en-US" sz="1400" dirty="0">
                <a:solidFill>
                  <a:schemeClr val="tx2"/>
                </a:solidFill>
              </a:rPr>
              <a:t>Learn on one set, choose settings on a second, report on a third never seen before.</a:t>
            </a:r>
            <a:endParaRPr lang="en-US" sz="1700" dirty="0"/>
          </a:p>
        </p:txBody>
      </p:sp>
      <p:sp>
        <p:nvSpPr>
          <p:cNvPr id="11" name="t2-4-box"/>
          <p:cNvSpPr/>
          <p:nvPr/>
        </p:nvSpPr>
        <p:spPr>
          <a:xfrm>
            <a:off x="4297680" y="3886200"/>
            <a:ext cx="3566160" cy="2286000"/>
          </a:xfrm>
          <a:prstGeom prst="roundRect">
            <a:avLst>
              <a:gd name="adj" fmla="val 4000"/>
            </a:avLst>
          </a:prstGeom>
          <a:solidFill>
            <a:schemeClr val="bg2"/>
          </a:solidFill>
          <a:ln w="12700">
            <a:solidFill>
              <a:schemeClr val="bg2"/>
            </a:solidFill>
            <a:prstDash val="solid"/>
          </a:ln>
        </p:spPr>
      </p:sp>
      <p:sp>
        <p:nvSpPr>
          <p:cNvPr id="12" name="t2-4-text"/>
          <p:cNvSpPr txBox="1"/>
          <p:nvPr/>
        </p:nvSpPr>
        <p:spPr>
          <a:xfrm>
            <a:off x="4480560" y="3995928"/>
            <a:ext cx="3200400" cy="2066544"/>
          </a:xfrm>
          <a:prstGeom prst="rect">
            <a:avLst/>
          </a:prstGeom>
          <a:noFill/>
          <a:ln/>
        </p:spPr>
        <p:txBody>
          <a:bodyPr wrap="square" lIns="0" tIns="0" rIns="0" bIns="0" rtlCol="0" anchor="t"/>
          <a:lstStyle/>
          <a:p>
            <a:pPr indent="0" marL="0">
              <a:buNone/>
            </a:pPr>
            <a:r>
              <a:rPr lang="en-US" sz="1700" b="1" dirty="0">
                <a:solidFill>
                  <a:schemeClr val="accent5"/>
                </a:solidFill>
              </a:rPr>
              <a:t>Seed
</a:t>
            </a:r>
            <a:pPr indent="0" marL="0">
              <a:buNone/>
            </a:pPr>
            <a:r>
              <a:rPr lang="en-US" sz="1400" dirty="0">
                <a:solidFill>
                  <a:schemeClr val="tx2"/>
                </a:solidFill>
              </a:rPr>
              <a:t>The random starting point of training; repeating with several seeds shows results are not luck.</a:t>
            </a:r>
            <a:endParaRPr lang="en-US" sz="1700" dirty="0"/>
          </a:p>
        </p:txBody>
      </p:sp>
      <p:sp>
        <p:nvSpPr>
          <p:cNvPr id="13" name="t2-5-box"/>
          <p:cNvSpPr/>
          <p:nvPr/>
        </p:nvSpPr>
        <p:spPr>
          <a:xfrm>
            <a:off x="8046720" y="3886200"/>
            <a:ext cx="3566160" cy="2286000"/>
          </a:xfrm>
          <a:prstGeom prst="roundRect">
            <a:avLst>
              <a:gd name="adj" fmla="val 4000"/>
            </a:avLst>
          </a:prstGeom>
          <a:solidFill>
            <a:schemeClr val="bg2"/>
          </a:solidFill>
          <a:ln w="12700">
            <a:solidFill>
              <a:schemeClr val="bg2"/>
            </a:solidFill>
            <a:prstDash val="solid"/>
          </a:ln>
        </p:spPr>
      </p:sp>
      <p:sp>
        <p:nvSpPr>
          <p:cNvPr id="14" name="t2-5-text"/>
          <p:cNvSpPr txBox="1"/>
          <p:nvPr/>
        </p:nvSpPr>
        <p:spPr>
          <a:xfrm>
            <a:off x="8229600" y="3995928"/>
            <a:ext cx="3200400" cy="2066544"/>
          </a:xfrm>
          <a:prstGeom prst="rect">
            <a:avLst/>
          </a:prstGeom>
          <a:noFill/>
          <a:ln/>
        </p:spPr>
        <p:txBody>
          <a:bodyPr wrap="square" lIns="0" tIns="0" rIns="0" bIns="0" rtlCol="0" anchor="t"/>
          <a:lstStyle/>
          <a:p>
            <a:pPr indent="0" marL="0">
              <a:buNone/>
            </a:pPr>
            <a:r>
              <a:rPr lang="en-US" sz="1700" b="1" dirty="0">
                <a:solidFill>
                  <a:schemeClr val="accent5"/>
                </a:solidFill>
              </a:rPr>
              <a:t>Graph neural network
</a:t>
            </a:r>
            <a:pPr indent="0" marL="0">
              <a:buNone/>
            </a:pPr>
            <a:r>
              <a:rPr lang="en-US" sz="1400" dirty="0">
                <a:solidFill>
                  <a:schemeClr val="tx2"/>
                </a:solidFill>
              </a:rPr>
              <a:t>A network for data connected like a web (papers citing papers); used for MUSE's second test bed.</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Words about evidence and uncertainty</a:t>
            </a:r>
            <a:endParaRPr lang="en-US" sz="3200" dirty="0"/>
          </a:p>
        </p:txBody>
      </p:sp>
      <p:sp>
        <p:nvSpPr>
          <p:cNvPr id="4" name="t3-0-box"/>
          <p:cNvSpPr/>
          <p:nvPr/>
        </p:nvSpPr>
        <p:spPr>
          <a:xfrm>
            <a:off x="548640" y="1371600"/>
            <a:ext cx="3566160" cy="2286000"/>
          </a:xfrm>
          <a:prstGeom prst="roundRect">
            <a:avLst>
              <a:gd name="adj" fmla="val 4000"/>
            </a:avLst>
          </a:prstGeom>
          <a:solidFill>
            <a:schemeClr val="bg2"/>
          </a:solidFill>
          <a:ln w="12700">
            <a:solidFill>
              <a:schemeClr val="bg2"/>
            </a:solidFill>
            <a:prstDash val="solid"/>
          </a:ln>
        </p:spPr>
      </p:sp>
      <p:sp>
        <p:nvSpPr>
          <p:cNvPr id="5" name="t3-0-text"/>
          <p:cNvSpPr txBox="1"/>
          <p:nvPr/>
        </p:nvSpPr>
        <p:spPr>
          <a:xfrm>
            <a:off x="731520" y="1481328"/>
            <a:ext cx="3200400" cy="2066544"/>
          </a:xfrm>
          <a:prstGeom prst="rect">
            <a:avLst/>
          </a:prstGeom>
          <a:noFill/>
          <a:ln/>
        </p:spPr>
        <p:txBody>
          <a:bodyPr wrap="square" lIns="0" tIns="0" rIns="0" bIns="0" rtlCol="0" anchor="t"/>
          <a:lstStyle/>
          <a:p>
            <a:pPr indent="0" marL="0">
              <a:buNone/>
            </a:pPr>
            <a:r>
              <a:rPr lang="en-US" sz="1700" b="1" dirty="0">
                <a:solidFill>
                  <a:schemeClr val="accent2"/>
                </a:solidFill>
              </a:rPr>
              <a:t>Evidence (α)
</a:t>
            </a:r>
            <a:pPr indent="0" marL="0">
              <a:buNone/>
            </a:pPr>
            <a:r>
              <a:rPr lang="en-US" sz="1400" dirty="0">
                <a:solidFill>
                  <a:schemeClr val="tx2"/>
                </a:solidFill>
              </a:rPr>
              <a:t>How strongly a scan supports each class. α = 1 means 'no evidence at all'.</a:t>
            </a:r>
            <a:endParaRPr lang="en-US" sz="1700" dirty="0"/>
          </a:p>
        </p:txBody>
      </p:sp>
      <p:sp>
        <p:nvSpPr>
          <p:cNvPr id="6" name="t3-1-box"/>
          <p:cNvSpPr/>
          <p:nvPr/>
        </p:nvSpPr>
        <p:spPr>
          <a:xfrm>
            <a:off x="4297680" y="1371600"/>
            <a:ext cx="3566160" cy="2286000"/>
          </a:xfrm>
          <a:prstGeom prst="roundRect">
            <a:avLst>
              <a:gd name="adj" fmla="val 4000"/>
            </a:avLst>
          </a:prstGeom>
          <a:solidFill>
            <a:schemeClr val="bg2"/>
          </a:solidFill>
          <a:ln w="12700">
            <a:solidFill>
              <a:schemeClr val="bg2"/>
            </a:solidFill>
            <a:prstDash val="solid"/>
          </a:ln>
        </p:spPr>
      </p:sp>
      <p:sp>
        <p:nvSpPr>
          <p:cNvPr id="7" name="t3-1-text"/>
          <p:cNvSpPr txBox="1"/>
          <p:nvPr/>
        </p:nvSpPr>
        <p:spPr>
          <a:xfrm>
            <a:off x="4480560" y="1481328"/>
            <a:ext cx="3200400" cy="2066544"/>
          </a:xfrm>
          <a:prstGeom prst="rect">
            <a:avLst/>
          </a:prstGeom>
          <a:noFill/>
          <a:ln/>
        </p:spPr>
        <p:txBody>
          <a:bodyPr wrap="square" lIns="0" tIns="0" rIns="0" bIns="0" rtlCol="0" anchor="t"/>
          <a:lstStyle/>
          <a:p>
            <a:pPr indent="0" marL="0">
              <a:buNone/>
            </a:pPr>
            <a:r>
              <a:rPr lang="en-US" sz="1700" b="1" dirty="0">
                <a:solidFill>
                  <a:schemeClr val="accent2"/>
                </a:solidFill>
              </a:rPr>
              <a:t>Dirichlet distribution
</a:t>
            </a:r>
            <a:pPr indent="0" marL="0">
              <a:buNone/>
            </a:pPr>
            <a:r>
              <a:rPr lang="en-US" sz="1400" dirty="0">
                <a:solidFill>
                  <a:schemeClr val="tx2"/>
                </a:solidFill>
              </a:rPr>
              <a:t>The maths that turns evidence counts into probabilities plus uncertainty.</a:t>
            </a:r>
            <a:endParaRPr lang="en-US" sz="1700" dirty="0"/>
          </a:p>
        </p:txBody>
      </p:sp>
      <p:sp>
        <p:nvSpPr>
          <p:cNvPr id="8" name="t3-2-box"/>
          <p:cNvSpPr/>
          <p:nvPr/>
        </p:nvSpPr>
        <p:spPr>
          <a:xfrm>
            <a:off x="8046720" y="1371600"/>
            <a:ext cx="3566160" cy="2286000"/>
          </a:xfrm>
          <a:prstGeom prst="roundRect">
            <a:avLst>
              <a:gd name="adj" fmla="val 4000"/>
            </a:avLst>
          </a:prstGeom>
          <a:solidFill>
            <a:schemeClr val="bg2"/>
          </a:solidFill>
          <a:ln w="12700">
            <a:solidFill>
              <a:schemeClr val="bg2"/>
            </a:solidFill>
            <a:prstDash val="solid"/>
          </a:ln>
        </p:spPr>
      </p:sp>
      <p:sp>
        <p:nvSpPr>
          <p:cNvPr id="9" name="t3-2-text"/>
          <p:cNvSpPr txBox="1"/>
          <p:nvPr/>
        </p:nvSpPr>
        <p:spPr>
          <a:xfrm>
            <a:off x="8229600" y="1481328"/>
            <a:ext cx="3200400" cy="2066544"/>
          </a:xfrm>
          <a:prstGeom prst="rect">
            <a:avLst/>
          </a:prstGeom>
          <a:noFill/>
          <a:ln/>
        </p:spPr>
        <p:txBody>
          <a:bodyPr wrap="square" lIns="0" tIns="0" rIns="0" bIns="0" rtlCol="0" anchor="t"/>
          <a:lstStyle/>
          <a:p>
            <a:pPr indent="0" marL="0">
              <a:buNone/>
            </a:pPr>
            <a:r>
              <a:rPr lang="en-US" sz="1700" b="1" dirty="0">
                <a:solidFill>
                  <a:schemeClr val="accent2"/>
                </a:solidFill>
              </a:rPr>
              <a:t>Uncertainty u = C / S
</a:t>
            </a:r>
            <a:pPr indent="0" marL="0">
              <a:buNone/>
            </a:pPr>
            <a:r>
              <a:rPr lang="en-US" sz="1400" dirty="0">
                <a:solidFill>
                  <a:schemeClr val="tx2"/>
                </a:solidFill>
              </a:rPr>
              <a:t>Number of classes ÷ total evidence: little evidence → high uncertainty.</a:t>
            </a:r>
            <a:endParaRPr lang="en-US" sz="1700" dirty="0"/>
          </a:p>
        </p:txBody>
      </p:sp>
      <p:sp>
        <p:nvSpPr>
          <p:cNvPr id="10" name="t3-3-box"/>
          <p:cNvSpPr/>
          <p:nvPr/>
        </p:nvSpPr>
        <p:spPr>
          <a:xfrm>
            <a:off x="548640" y="3886200"/>
            <a:ext cx="3566160" cy="2286000"/>
          </a:xfrm>
          <a:prstGeom prst="roundRect">
            <a:avLst>
              <a:gd name="adj" fmla="val 4000"/>
            </a:avLst>
          </a:prstGeom>
          <a:solidFill>
            <a:schemeClr val="bg2"/>
          </a:solidFill>
          <a:ln w="12700">
            <a:solidFill>
              <a:schemeClr val="bg2"/>
            </a:solidFill>
            <a:prstDash val="solid"/>
          </a:ln>
        </p:spPr>
      </p:sp>
      <p:sp>
        <p:nvSpPr>
          <p:cNvPr id="11" name="t3-3-text"/>
          <p:cNvSpPr txBox="1"/>
          <p:nvPr/>
        </p:nvSpPr>
        <p:spPr>
          <a:xfrm>
            <a:off x="731520" y="3995928"/>
            <a:ext cx="3200400" cy="2066544"/>
          </a:xfrm>
          <a:prstGeom prst="rect">
            <a:avLst/>
          </a:prstGeom>
          <a:noFill/>
          <a:ln/>
        </p:spPr>
        <p:txBody>
          <a:bodyPr wrap="square" lIns="0" tIns="0" rIns="0" bIns="0" rtlCol="0" anchor="t"/>
          <a:lstStyle/>
          <a:p>
            <a:pPr indent="0" marL="0">
              <a:buNone/>
            </a:pPr>
            <a:r>
              <a:rPr lang="en-US" sz="1700" b="1" dirty="0">
                <a:solidFill>
                  <a:schemeClr val="accent2"/>
                </a:solidFill>
              </a:rPr>
              <a:t>Dempster–Shafer theory
</a:t>
            </a:r>
            <a:pPr indent="0" marL="0">
              <a:buNone/>
            </a:pPr>
            <a:r>
              <a:rPr lang="en-US" sz="1400" dirty="0">
                <a:solidFill>
                  <a:schemeClr val="tx2"/>
                </a:solidFill>
              </a:rPr>
              <a:t>A theory of evidence that can say 'I don't know' instead of forcing a guess.</a:t>
            </a:r>
            <a:endParaRPr lang="en-US" sz="1700" dirty="0"/>
          </a:p>
        </p:txBody>
      </p:sp>
      <p:sp>
        <p:nvSpPr>
          <p:cNvPr id="12" name="t3-4-box"/>
          <p:cNvSpPr/>
          <p:nvPr/>
        </p:nvSpPr>
        <p:spPr>
          <a:xfrm>
            <a:off x="4297680" y="3886200"/>
            <a:ext cx="3566160" cy="2286000"/>
          </a:xfrm>
          <a:prstGeom prst="roundRect">
            <a:avLst>
              <a:gd name="adj" fmla="val 4000"/>
            </a:avLst>
          </a:prstGeom>
          <a:solidFill>
            <a:schemeClr val="bg2"/>
          </a:solidFill>
          <a:ln w="12700">
            <a:solidFill>
              <a:schemeClr val="bg2"/>
            </a:solidFill>
            <a:prstDash val="solid"/>
          </a:ln>
        </p:spPr>
      </p:sp>
      <p:sp>
        <p:nvSpPr>
          <p:cNvPr id="13" name="t3-4-text"/>
          <p:cNvSpPr txBox="1"/>
          <p:nvPr/>
        </p:nvSpPr>
        <p:spPr>
          <a:xfrm>
            <a:off x="4480560" y="3995928"/>
            <a:ext cx="3200400" cy="2066544"/>
          </a:xfrm>
          <a:prstGeom prst="rect">
            <a:avLst/>
          </a:prstGeom>
          <a:noFill/>
          <a:ln/>
        </p:spPr>
        <p:txBody>
          <a:bodyPr wrap="square" lIns="0" tIns="0" rIns="0" bIns="0" rtlCol="0" anchor="t"/>
          <a:lstStyle/>
          <a:p>
            <a:pPr indent="0" marL="0">
              <a:buNone/>
            </a:pPr>
            <a:r>
              <a:rPr lang="en-US" sz="1700" b="1" dirty="0">
                <a:solidFill>
                  <a:schemeClr val="accent2"/>
                </a:solidFill>
              </a:rPr>
              <a:t>Vacuous mass
</a:t>
            </a:r>
            <a:pPr indent="0" marL="0">
              <a:buNone/>
            </a:pPr>
            <a:r>
              <a:rPr lang="en-US" sz="1400" dirty="0">
                <a:solidFill>
                  <a:schemeClr val="tx2"/>
                </a:solidFill>
              </a:rPr>
              <a:t>The formal 'I know nothing' opinion — exactly what a missing scan contributes.</a:t>
            </a:r>
            <a:endParaRPr lang="en-US" sz="1700" dirty="0"/>
          </a:p>
        </p:txBody>
      </p:sp>
      <p:sp>
        <p:nvSpPr>
          <p:cNvPr id="14" name="t3-5-box"/>
          <p:cNvSpPr/>
          <p:nvPr/>
        </p:nvSpPr>
        <p:spPr>
          <a:xfrm>
            <a:off x="8046720" y="3886200"/>
            <a:ext cx="3566160" cy="2286000"/>
          </a:xfrm>
          <a:prstGeom prst="roundRect">
            <a:avLst>
              <a:gd name="adj" fmla="val 4000"/>
            </a:avLst>
          </a:prstGeom>
          <a:solidFill>
            <a:schemeClr val="bg2"/>
          </a:solidFill>
          <a:ln w="12700">
            <a:solidFill>
              <a:schemeClr val="bg2"/>
            </a:solidFill>
            <a:prstDash val="solid"/>
          </a:ln>
        </p:spPr>
      </p:sp>
      <p:sp>
        <p:nvSpPr>
          <p:cNvPr id="15" name="t3-5-text"/>
          <p:cNvSpPr txBox="1"/>
          <p:nvPr/>
        </p:nvSpPr>
        <p:spPr>
          <a:xfrm>
            <a:off x="8229600" y="3995928"/>
            <a:ext cx="3200400" cy="2066544"/>
          </a:xfrm>
          <a:prstGeom prst="rect">
            <a:avLst/>
          </a:prstGeom>
          <a:noFill/>
          <a:ln/>
        </p:spPr>
        <p:txBody>
          <a:bodyPr wrap="square" lIns="0" tIns="0" rIns="0" bIns="0" rtlCol="0" anchor="t"/>
          <a:lstStyle/>
          <a:p>
            <a:pPr indent="0" marL="0">
              <a:buNone/>
            </a:pPr>
            <a:r>
              <a:rPr lang="en-US" sz="1700" b="1" dirty="0">
                <a:solidFill>
                  <a:schemeClr val="accent2"/>
                </a:solidFill>
              </a:rPr>
              <a:t>Cumulative fusion
</a:t>
            </a:r>
            <a:pPr indent="0" marL="0">
              <a:buNone/>
            </a:pPr>
            <a:r>
              <a:rPr lang="en-US" sz="1400" dirty="0">
                <a:solidFill>
                  <a:schemeClr val="tx2"/>
                </a:solidFill>
              </a:rPr>
              <a:t>Combine opinions by adding their evidence (from subjective logic).</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Words about judging results fairly</a:t>
            </a:r>
            <a:endParaRPr lang="en-US" sz="3200" dirty="0"/>
          </a:p>
        </p:txBody>
      </p:sp>
      <p:sp>
        <p:nvSpPr>
          <p:cNvPr id="3" name="t4-0-box"/>
          <p:cNvSpPr/>
          <p:nvPr/>
        </p:nvSpPr>
        <p:spPr>
          <a:xfrm>
            <a:off x="548640" y="1371600"/>
            <a:ext cx="3566160" cy="2286000"/>
          </a:xfrm>
          <a:prstGeom prst="roundRect">
            <a:avLst>
              <a:gd name="adj" fmla="val 4000"/>
            </a:avLst>
          </a:prstGeom>
          <a:solidFill>
            <a:schemeClr val="bg2"/>
          </a:solidFill>
          <a:ln w="12700">
            <a:solidFill>
              <a:schemeClr val="bg2"/>
            </a:solidFill>
            <a:prstDash val="solid"/>
          </a:ln>
        </p:spPr>
      </p:sp>
      <p:sp>
        <p:nvSpPr>
          <p:cNvPr id="4" name="t4-0-text"/>
          <p:cNvSpPr txBox="1"/>
          <p:nvPr/>
        </p:nvSpPr>
        <p:spPr>
          <a:xfrm>
            <a:off x="731520" y="1481328"/>
            <a:ext cx="3200400" cy="2066544"/>
          </a:xfrm>
          <a:prstGeom prst="rect">
            <a:avLst/>
          </a:prstGeom>
          <a:noFill/>
          <a:ln/>
        </p:spPr>
        <p:txBody>
          <a:bodyPr wrap="square" lIns="0" tIns="0" rIns="0" bIns="0" rtlCol="0" anchor="t"/>
          <a:lstStyle/>
          <a:p>
            <a:pPr indent="0" marL="0">
              <a:buNone/>
            </a:pPr>
            <a:r>
              <a:rPr lang="en-US" sz="1700" b="1" dirty="0">
                <a:solidFill>
                  <a:schemeClr val="accent4"/>
                </a:solidFill>
              </a:rPr>
              <a:t>Baseline
</a:t>
            </a:r>
            <a:pPr indent="0" marL="0">
              <a:buNone/>
            </a:pPr>
            <a:r>
              <a:rPr lang="en-US" sz="1400" dirty="0">
                <a:solidFill>
                  <a:schemeClr val="tx2"/>
                </a:solidFill>
              </a:rPr>
              <a:t>An existing method we compare against (HeMIS, RFNet, mmFormer, …).</a:t>
            </a:r>
            <a:endParaRPr lang="en-US" sz="1700" dirty="0"/>
          </a:p>
        </p:txBody>
      </p:sp>
      <p:sp>
        <p:nvSpPr>
          <p:cNvPr id="5" name="t4-1-box"/>
          <p:cNvSpPr/>
          <p:nvPr/>
        </p:nvSpPr>
        <p:spPr>
          <a:xfrm>
            <a:off x="4297680" y="1371600"/>
            <a:ext cx="3566160" cy="2286000"/>
          </a:xfrm>
          <a:prstGeom prst="roundRect">
            <a:avLst>
              <a:gd name="adj" fmla="val 4000"/>
            </a:avLst>
          </a:prstGeom>
          <a:solidFill>
            <a:schemeClr val="bg2"/>
          </a:solidFill>
          <a:ln w="12700">
            <a:solidFill>
              <a:schemeClr val="bg2"/>
            </a:solidFill>
            <a:prstDash val="solid"/>
          </a:ln>
        </p:spPr>
      </p:sp>
      <p:sp>
        <p:nvSpPr>
          <p:cNvPr id="6" name="t4-1-text"/>
          <p:cNvSpPr txBox="1"/>
          <p:nvPr/>
        </p:nvSpPr>
        <p:spPr>
          <a:xfrm>
            <a:off x="4480560" y="1481328"/>
            <a:ext cx="3200400" cy="2066544"/>
          </a:xfrm>
          <a:prstGeom prst="rect">
            <a:avLst/>
          </a:prstGeom>
          <a:noFill/>
          <a:ln/>
        </p:spPr>
        <p:txBody>
          <a:bodyPr wrap="square" lIns="0" tIns="0" rIns="0" bIns="0" rtlCol="0" anchor="t"/>
          <a:lstStyle/>
          <a:p>
            <a:pPr indent="0" marL="0">
              <a:buNone/>
            </a:pPr>
            <a:r>
              <a:rPr lang="en-US" sz="1700" b="1" dirty="0">
                <a:solidFill>
                  <a:schemeClr val="accent4"/>
                </a:solidFill>
              </a:rPr>
              <a:t>Ablation
</a:t>
            </a:r>
            <a:pPr indent="0" marL="0">
              <a:buNone/>
            </a:pPr>
            <a:r>
              <a:rPr lang="en-US" sz="1400" dirty="0">
                <a:solidFill>
                  <a:schemeClr val="tx2"/>
                </a:solidFill>
              </a:rPr>
              <a:t>Remove one part of MUSE and re-test, to prove that part actually helps.</a:t>
            </a:r>
            <a:endParaRPr lang="en-US" sz="1700" dirty="0"/>
          </a:p>
        </p:txBody>
      </p:sp>
      <p:sp>
        <p:nvSpPr>
          <p:cNvPr id="7" name="t4-2-box"/>
          <p:cNvSpPr/>
          <p:nvPr/>
        </p:nvSpPr>
        <p:spPr>
          <a:xfrm>
            <a:off x="8046720" y="1371600"/>
            <a:ext cx="3566160" cy="2286000"/>
          </a:xfrm>
          <a:prstGeom prst="roundRect">
            <a:avLst>
              <a:gd name="adj" fmla="val 4000"/>
            </a:avLst>
          </a:prstGeom>
          <a:solidFill>
            <a:schemeClr val="bg2"/>
          </a:solidFill>
          <a:ln w="12700">
            <a:solidFill>
              <a:schemeClr val="bg2"/>
            </a:solidFill>
            <a:prstDash val="solid"/>
          </a:ln>
        </p:spPr>
      </p:sp>
      <p:sp>
        <p:nvSpPr>
          <p:cNvPr id="8" name="t4-2-text"/>
          <p:cNvSpPr txBox="1"/>
          <p:nvPr/>
        </p:nvSpPr>
        <p:spPr>
          <a:xfrm>
            <a:off x="8229600" y="1481328"/>
            <a:ext cx="3200400" cy="2066544"/>
          </a:xfrm>
          <a:prstGeom prst="rect">
            <a:avLst/>
          </a:prstGeom>
          <a:noFill/>
          <a:ln/>
        </p:spPr>
        <p:txBody>
          <a:bodyPr wrap="square" lIns="0" tIns="0" rIns="0" bIns="0" rtlCol="0" anchor="t"/>
          <a:lstStyle/>
          <a:p>
            <a:pPr indent="0" marL="0">
              <a:buNone/>
            </a:pPr>
            <a:r>
              <a:rPr lang="en-US" sz="1700" b="1" dirty="0">
                <a:solidFill>
                  <a:schemeClr val="accent4"/>
                </a:solidFill>
              </a:rPr>
              <a:t>Calibration (ECE)
</a:t>
            </a:r>
            <a:pPr indent="0" marL="0">
              <a:buNone/>
            </a:pPr>
            <a:r>
              <a:rPr lang="en-US" sz="1400" dirty="0">
                <a:solidFill>
                  <a:schemeClr val="tx2"/>
                </a:solidFill>
              </a:rPr>
              <a:t>Does 90% confidence mean right 90% of the time? Lower error = more honest.</a:t>
            </a:r>
            <a:endParaRPr lang="en-US" sz="1700" dirty="0"/>
          </a:p>
        </p:txBody>
      </p:sp>
      <p:sp>
        <p:nvSpPr>
          <p:cNvPr id="9" name="t4-3-box"/>
          <p:cNvSpPr/>
          <p:nvPr/>
        </p:nvSpPr>
        <p:spPr>
          <a:xfrm>
            <a:off x="548640" y="3886200"/>
            <a:ext cx="3566160" cy="2286000"/>
          </a:xfrm>
          <a:prstGeom prst="roundRect">
            <a:avLst>
              <a:gd name="adj" fmla="val 4000"/>
            </a:avLst>
          </a:prstGeom>
          <a:solidFill>
            <a:schemeClr val="bg2"/>
          </a:solidFill>
          <a:ln w="12700">
            <a:solidFill>
              <a:schemeClr val="bg2"/>
            </a:solidFill>
            <a:prstDash val="solid"/>
          </a:ln>
        </p:spPr>
      </p:sp>
      <p:sp>
        <p:nvSpPr>
          <p:cNvPr id="10" name="t4-3-text"/>
          <p:cNvSpPr txBox="1"/>
          <p:nvPr/>
        </p:nvSpPr>
        <p:spPr>
          <a:xfrm>
            <a:off x="731520" y="3995928"/>
            <a:ext cx="3200400" cy="2066544"/>
          </a:xfrm>
          <a:prstGeom prst="rect">
            <a:avLst/>
          </a:prstGeom>
          <a:noFill/>
          <a:ln/>
        </p:spPr>
        <p:txBody>
          <a:bodyPr wrap="square" lIns="0" tIns="0" rIns="0" bIns="0" rtlCol="0" anchor="t"/>
          <a:lstStyle/>
          <a:p>
            <a:pPr indent="0" marL="0">
              <a:buNone/>
            </a:pPr>
            <a:r>
              <a:rPr lang="en-US" sz="1700" b="1" dirty="0">
                <a:solidFill>
                  <a:schemeClr val="accent4"/>
                </a:solidFill>
              </a:rPr>
              <a:t>AUROC (error detection)
</a:t>
            </a:r>
            <a:pPr indent="0" marL="0">
              <a:buNone/>
            </a:pPr>
            <a:r>
              <a:rPr lang="en-US" sz="1400" dirty="0">
                <a:solidFill>
                  <a:schemeClr val="tx2"/>
                </a:solidFill>
              </a:rPr>
              <a:t>How well the uncertainty points at the AI's own mistakes; 1 = perfectly.</a:t>
            </a:r>
            <a:endParaRPr lang="en-US" sz="1700" dirty="0"/>
          </a:p>
        </p:txBody>
      </p:sp>
      <p:sp>
        <p:nvSpPr>
          <p:cNvPr id="11" name="t4-4-box"/>
          <p:cNvSpPr/>
          <p:nvPr/>
        </p:nvSpPr>
        <p:spPr>
          <a:xfrm>
            <a:off x="4297680" y="3886200"/>
            <a:ext cx="3566160" cy="2286000"/>
          </a:xfrm>
          <a:prstGeom prst="roundRect">
            <a:avLst>
              <a:gd name="adj" fmla="val 4000"/>
            </a:avLst>
          </a:prstGeom>
          <a:solidFill>
            <a:schemeClr val="bg2"/>
          </a:solidFill>
          <a:ln w="12700">
            <a:solidFill>
              <a:schemeClr val="bg2"/>
            </a:solidFill>
            <a:prstDash val="solid"/>
          </a:ln>
        </p:spPr>
      </p:sp>
      <p:sp>
        <p:nvSpPr>
          <p:cNvPr id="12" name="t4-4-text"/>
          <p:cNvSpPr txBox="1"/>
          <p:nvPr/>
        </p:nvSpPr>
        <p:spPr>
          <a:xfrm>
            <a:off x="4480560" y="3995928"/>
            <a:ext cx="3200400" cy="2066544"/>
          </a:xfrm>
          <a:prstGeom prst="rect">
            <a:avLst/>
          </a:prstGeom>
          <a:noFill/>
          <a:ln/>
        </p:spPr>
        <p:txBody>
          <a:bodyPr wrap="square" lIns="0" tIns="0" rIns="0" bIns="0" rtlCol="0" anchor="t"/>
          <a:lstStyle/>
          <a:p>
            <a:pPr indent="0" marL="0">
              <a:buNone/>
            </a:pPr>
            <a:r>
              <a:rPr lang="en-US" sz="1700" b="1" dirty="0">
                <a:solidFill>
                  <a:schemeClr val="accent4"/>
                </a:solidFill>
              </a:rPr>
              <a:t>p-value (Wilcoxon test)
</a:t>
            </a:r>
            <a:pPr indent="0" marL="0">
              <a:buNone/>
            </a:pPr>
            <a:r>
              <a:rPr lang="en-US" sz="1400" dirty="0">
                <a:solidFill>
                  <a:schemeClr val="tx2"/>
                </a:solidFill>
              </a:rPr>
              <a:t>Chance the difference is luck; below 0.05 counts as significant.</a:t>
            </a:r>
            <a:endParaRPr lang="en-US" sz="1700" dirty="0"/>
          </a:p>
        </p:txBody>
      </p:sp>
      <p:sp>
        <p:nvSpPr>
          <p:cNvPr id="13" name="t4-5-box"/>
          <p:cNvSpPr/>
          <p:nvPr/>
        </p:nvSpPr>
        <p:spPr>
          <a:xfrm>
            <a:off x="8046720" y="3886200"/>
            <a:ext cx="3566160" cy="2286000"/>
          </a:xfrm>
          <a:prstGeom prst="roundRect">
            <a:avLst>
              <a:gd name="adj" fmla="val 4000"/>
            </a:avLst>
          </a:prstGeom>
          <a:solidFill>
            <a:schemeClr val="bg2"/>
          </a:solidFill>
          <a:ln w="12700">
            <a:solidFill>
              <a:schemeClr val="bg2"/>
            </a:solidFill>
            <a:prstDash val="solid"/>
          </a:ln>
        </p:spPr>
      </p:sp>
      <p:sp>
        <p:nvSpPr>
          <p:cNvPr id="14" name="t4-5-text"/>
          <p:cNvSpPr txBox="1"/>
          <p:nvPr/>
        </p:nvSpPr>
        <p:spPr>
          <a:xfrm>
            <a:off x="8229600" y="3995928"/>
            <a:ext cx="3200400" cy="2066544"/>
          </a:xfrm>
          <a:prstGeom prst="rect">
            <a:avLst/>
          </a:prstGeom>
          <a:noFill/>
          <a:ln/>
        </p:spPr>
        <p:txBody>
          <a:bodyPr wrap="square" lIns="0" tIns="0" rIns="0" bIns="0" rtlCol="0" anchor="t"/>
          <a:lstStyle/>
          <a:p>
            <a:pPr indent="0" marL="0">
              <a:buNone/>
            </a:pPr>
            <a:r>
              <a:rPr lang="en-US" sz="1700" b="1" dirty="0">
                <a:solidFill>
                  <a:schemeClr val="accent4"/>
                </a:solidFill>
              </a:rPr>
              <a:t>Pull request (PR)
</a:t>
            </a:r>
            <a:pPr indent="0" marL="0">
              <a:buNone/>
            </a:pPr>
            <a:r>
              <a:rPr lang="en-US" sz="1400" dirty="0">
                <a:solidFill>
                  <a:schemeClr val="tx2"/>
                </a:solidFill>
              </a:rPr>
              <a:t>A reviewed, recorded change to the code on GitHub — our audit trail.</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Chapter 3 · How MUSE works</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bg1"/>
                </a:solidFill>
              </a:rPr>
              <a:t>A panel of experts that never fakes evidence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MUSE architecture: one forward pass, three outputs</a:t>
            </a:r>
            <a:endParaRPr lang="en-US" sz="3200" dirty="0"/>
          </a:p>
        </p:txBody>
      </p:sp>
      <p:pic>
        <p:nvPicPr>
          <p:cNvPr id="4" name="arch" descr="/Users/boolu/Downloads/MUSE/figures/muse_architecture.png">    </p:cNvPr>
          <p:cNvPicPr>
            <a:picLocks noChangeAspect="1"/>
          </p:cNvPicPr>
          <p:nvPr/>
        </p:nvPicPr>
        <p:blipFill>
          <a:blip r:embed="rId1"/>
          <a:stretch>
            <a:fillRect/>
          </a:stretch>
        </p:blipFill>
        <p:spPr>
          <a:xfrm>
            <a:off x="548640" y="1325880"/>
            <a:ext cx="7863840" cy="3749040"/>
          </a:xfrm>
          <a:prstGeom prst="rect">
            <a:avLst/>
          </a:prstGeom>
        </p:spPr>
      </p:pic>
      <p:sp>
        <p:nvSpPr>
          <p:cNvPr id="5" name="arch-steps"/>
          <p:cNvSpPr txBox="1"/>
          <p:nvPr/>
        </p:nvSpPr>
        <p:spPr>
          <a:xfrm>
            <a:off x="8686800" y="1463040"/>
            <a:ext cx="3017520" cy="384048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chemeClr val="tx2"/>
                </a:solidFill>
              </a:rPr>
              <a:t>Own network per scan</a:t>
            </a:r>
            <a:endParaRPr lang="en-US" sz="1600" dirty="0"/>
          </a:p>
          <a:p>
            <a:pPr marL="342900" indent="-342900">
              <a:spcAft>
                <a:spcPts val="800"/>
              </a:spcAft>
              <a:buSzPct val="100000"/>
              <a:buChar char="•"/>
            </a:pPr>
            <a:r>
              <a:rPr lang="en-US" sz="1600" dirty="0">
                <a:solidFill>
                  <a:schemeClr val="tx2"/>
                </a:solidFill>
              </a:rPr>
              <a:t>Missing scan = vacuous mass</a:t>
            </a:r>
            <a:endParaRPr lang="en-US" sz="1600" dirty="0"/>
          </a:p>
          <a:p>
            <a:pPr marL="342900" indent="-342900">
              <a:spcAft>
                <a:spcPts val="800"/>
              </a:spcAft>
              <a:buSzPct val="100000"/>
              <a:buChar char="•"/>
            </a:pPr>
            <a:r>
              <a:rPr lang="en-US" sz="1600" dirty="0">
                <a:solidFill>
                  <a:schemeClr val="tx2"/>
                </a:solidFill>
              </a:rPr>
              <a:t>Gate = trust per class &amp; voxel</a:t>
            </a:r>
            <a:endParaRPr lang="en-US" sz="1600" dirty="0"/>
          </a:p>
          <a:p>
            <a:pPr marL="342900" indent="-342900">
              <a:spcAft>
                <a:spcPts val="800"/>
              </a:spcAft>
              <a:buSzPct val="100000"/>
              <a:buChar char="•"/>
            </a:pPr>
            <a:r>
              <a:rPr lang="en-US" sz="1600" dirty="0">
                <a:solidFill>
                  <a:schemeClr val="tx2"/>
                </a:solidFill>
              </a:rPr>
              <a:t>Fusion = add the evidence</a:t>
            </a:r>
            <a:endParaRPr lang="en-US" sz="1600" dirty="0"/>
          </a:p>
          <a:p>
            <a:pPr marL="342900" indent="-342900">
              <a:spcAft>
                <a:spcPts val="800"/>
              </a:spcAft>
              <a:buSzPct val="100000"/>
              <a:buChar char="•"/>
            </a:pPr>
            <a:r>
              <a:rPr lang="en-US" sz="1600" dirty="0">
                <a:solidFill>
                  <a:schemeClr val="tx2"/>
                </a:solidFill>
              </a:rPr>
              <a:t>Outputs: outline, uncertainty, who-said-what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The same idea as a panel of four experts</a:t>
            </a:r>
            <a:endParaRPr lang="en-US" sz="3200" dirty="0"/>
          </a:p>
        </p:txBody>
      </p:sp>
      <p:sp>
        <p:nvSpPr>
          <p:cNvPr id="3" name="exp0-card"/>
          <p:cNvSpPr/>
          <p:nvPr/>
        </p:nvSpPr>
        <p:spPr>
          <a:xfrm>
            <a:off x="548640" y="1371600"/>
            <a:ext cx="5440680" cy="2286000"/>
          </a:xfrm>
          <a:prstGeom prst="roundRect">
            <a:avLst>
              <a:gd name="adj" fmla="val 4800"/>
            </a:avLst>
          </a:prstGeom>
          <a:solidFill>
            <a:schemeClr val="bg2"/>
          </a:solidFill>
          <a:ln w="12700">
            <a:solidFill>
              <a:schemeClr val="bg2"/>
            </a:solidFill>
            <a:prstDash val="solid"/>
          </a:ln>
        </p:spPr>
      </p:sp>
      <p:sp>
        <p:nvSpPr>
          <p:cNvPr id="4" name="exp0-dot"/>
          <p:cNvSpPr/>
          <p:nvPr/>
        </p:nvSpPr>
        <p:spPr>
          <a:xfrm>
            <a:off x="777240" y="1600200"/>
            <a:ext cx="566928" cy="566928"/>
          </a:xfrm>
          <a:prstGeom prst="ellipse">
            <a:avLst/>
          </a:prstGeom>
          <a:solidFill>
            <a:srgbClr val="1F7A8C"/>
          </a:solidFill>
          <a:ln w="12700">
            <a:solidFill>
              <a:srgbClr val="1F7A8C"/>
            </a:solidFill>
            <a:prstDash val="solid"/>
          </a:ln>
        </p:spPr>
      </p:sp>
      <p:pic>
        <p:nvPicPr>
          <p:cNvPr id="5" name="exp0-icon" descr="preencoded.png">    </p:cNvPr>
          <p:cNvPicPr>
            <a:picLocks noChangeAspect="1"/>
          </p:cNvPicPr>
          <p:nvPr/>
        </p:nvPicPr>
        <p:blipFill>
          <a:blip r:embed="rId1"/>
          <a:stretch>
            <a:fillRect/>
          </a:stretch>
        </p:blipFill>
        <p:spPr>
          <a:xfrm>
            <a:off x="905256" y="1728216"/>
            <a:ext cx="310896" cy="310896"/>
          </a:xfrm>
          <a:prstGeom prst="rect">
            <a:avLst/>
          </a:prstGeom>
        </p:spPr>
      </p:pic>
      <p:sp>
        <p:nvSpPr>
          <p:cNvPr id="6" name="exp0-head"/>
          <p:cNvSpPr txBox="1"/>
          <p:nvPr/>
        </p:nvSpPr>
        <p:spPr>
          <a:xfrm>
            <a:off x="1463040" y="15727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Each expert reads one scan</a:t>
            </a:r>
            <a:endParaRPr lang="en-US" sz="1800" dirty="0"/>
          </a:p>
        </p:txBody>
      </p:sp>
      <p:sp>
        <p:nvSpPr>
          <p:cNvPr id="7" name="exp0-body"/>
          <p:cNvSpPr txBox="1"/>
          <p:nvPr/>
        </p:nvSpPr>
        <p:spPr>
          <a:xfrm>
            <a:off x="777240" y="2286000"/>
            <a:ext cx="4983480" cy="1234440"/>
          </a:xfrm>
          <a:prstGeom prst="rect">
            <a:avLst/>
          </a:prstGeom>
          <a:noFill/>
          <a:ln/>
        </p:spPr>
        <p:txBody>
          <a:bodyPr wrap="square" lIns="0" tIns="0" rIns="0" bIns="0" rtlCol="0" anchor="t"/>
          <a:lstStyle/>
          <a:p>
            <a:pPr indent="0" marL="0">
              <a:buNone/>
            </a:pPr>
            <a:r>
              <a:rPr lang="en-US" sz="1600" dirty="0">
                <a:solidFill>
                  <a:schemeClr val="tx2"/>
                </a:solidFill>
              </a:rPr>
              <a:t>FLAIR expert, T1 expert, … each marks where it thinks the tumour is.</a:t>
            </a:r>
            <a:endParaRPr lang="en-US" sz="1600" dirty="0"/>
          </a:p>
        </p:txBody>
      </p:sp>
      <p:sp>
        <p:nvSpPr>
          <p:cNvPr id="8" name="exp1-card"/>
          <p:cNvSpPr/>
          <p:nvPr/>
        </p:nvSpPr>
        <p:spPr>
          <a:xfrm>
            <a:off x="6172200" y="1371600"/>
            <a:ext cx="5440680" cy="2286000"/>
          </a:xfrm>
          <a:prstGeom prst="roundRect">
            <a:avLst>
              <a:gd name="adj" fmla="val 4800"/>
            </a:avLst>
          </a:prstGeom>
          <a:solidFill>
            <a:schemeClr val="bg2"/>
          </a:solidFill>
          <a:ln w="12700">
            <a:solidFill>
              <a:schemeClr val="bg2"/>
            </a:solidFill>
            <a:prstDash val="solid"/>
          </a:ln>
        </p:spPr>
      </p:sp>
      <p:sp>
        <p:nvSpPr>
          <p:cNvPr id="9" name="exp1-dot"/>
          <p:cNvSpPr/>
          <p:nvPr/>
        </p:nvSpPr>
        <p:spPr>
          <a:xfrm>
            <a:off x="6400800" y="1600200"/>
            <a:ext cx="566928" cy="566928"/>
          </a:xfrm>
          <a:prstGeom prst="ellipse">
            <a:avLst/>
          </a:prstGeom>
          <a:solidFill>
            <a:srgbClr val="3D405B"/>
          </a:solidFill>
          <a:ln w="12700">
            <a:solidFill>
              <a:srgbClr val="3D405B"/>
            </a:solidFill>
            <a:prstDash val="solid"/>
          </a:ln>
        </p:spPr>
      </p:sp>
      <p:pic>
        <p:nvPicPr>
          <p:cNvPr id="10" name="exp1-icon" descr="preencoded.png">    </p:cNvPr>
          <p:cNvPicPr>
            <a:picLocks noChangeAspect="1"/>
          </p:cNvPicPr>
          <p:nvPr/>
        </p:nvPicPr>
        <p:blipFill>
          <a:blip r:embed="rId2"/>
          <a:stretch>
            <a:fillRect/>
          </a:stretch>
        </p:blipFill>
        <p:spPr>
          <a:xfrm>
            <a:off x="6528816" y="1728216"/>
            <a:ext cx="310896" cy="310896"/>
          </a:xfrm>
          <a:prstGeom prst="rect">
            <a:avLst/>
          </a:prstGeom>
        </p:spPr>
      </p:pic>
      <p:sp>
        <p:nvSpPr>
          <p:cNvPr id="11" name="exp1-head"/>
          <p:cNvSpPr txBox="1"/>
          <p:nvPr/>
        </p:nvSpPr>
        <p:spPr>
          <a:xfrm>
            <a:off x="7086600" y="15727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Missing scan → expert stays silent</a:t>
            </a:r>
            <a:endParaRPr lang="en-US" sz="1800" dirty="0"/>
          </a:p>
        </p:txBody>
      </p:sp>
      <p:sp>
        <p:nvSpPr>
          <p:cNvPr id="12" name="exp1-body"/>
          <p:cNvSpPr txBox="1"/>
          <p:nvPr/>
        </p:nvSpPr>
        <p:spPr>
          <a:xfrm>
            <a:off x="6400800" y="2286000"/>
            <a:ext cx="4983480" cy="1234440"/>
          </a:xfrm>
          <a:prstGeom prst="rect">
            <a:avLst/>
          </a:prstGeom>
          <a:noFill/>
          <a:ln/>
        </p:spPr>
        <p:txBody>
          <a:bodyPr wrap="square" lIns="0" tIns="0" rIns="0" bIns="0" rtlCol="0" anchor="t"/>
          <a:lstStyle/>
          <a:p>
            <a:pPr indent="0" marL="0">
              <a:buNone/>
            </a:pPr>
            <a:r>
              <a:rPr lang="en-US" sz="1600" dirty="0">
                <a:solidFill>
                  <a:schemeClr val="tx2"/>
                </a:solidFill>
              </a:rPr>
              <a:t>No guessing, no invented data. Silence adds exactly nothing.</a:t>
            </a:r>
            <a:endParaRPr lang="en-US" sz="1600" dirty="0"/>
          </a:p>
        </p:txBody>
      </p:sp>
      <p:sp>
        <p:nvSpPr>
          <p:cNvPr id="13" name="exp2-card"/>
          <p:cNvSpPr/>
          <p:nvPr/>
        </p:nvSpPr>
        <p:spPr>
          <a:xfrm>
            <a:off x="548640" y="3886200"/>
            <a:ext cx="5440680" cy="2286000"/>
          </a:xfrm>
          <a:prstGeom prst="roundRect">
            <a:avLst>
              <a:gd name="adj" fmla="val 4800"/>
            </a:avLst>
          </a:prstGeom>
          <a:solidFill>
            <a:schemeClr val="bg2"/>
          </a:solidFill>
          <a:ln w="12700">
            <a:solidFill>
              <a:schemeClr val="bg2"/>
            </a:solidFill>
            <a:prstDash val="solid"/>
          </a:ln>
        </p:spPr>
      </p:sp>
      <p:sp>
        <p:nvSpPr>
          <p:cNvPr id="14" name="exp2-dot"/>
          <p:cNvSpPr/>
          <p:nvPr/>
        </p:nvSpPr>
        <p:spPr>
          <a:xfrm>
            <a:off x="777240" y="4114800"/>
            <a:ext cx="566928" cy="566928"/>
          </a:xfrm>
          <a:prstGeom prst="ellipse">
            <a:avLst/>
          </a:prstGeom>
          <a:solidFill>
            <a:srgbClr val="E07A5F"/>
          </a:solidFill>
          <a:ln w="12700">
            <a:solidFill>
              <a:srgbClr val="E07A5F"/>
            </a:solidFill>
            <a:prstDash val="solid"/>
          </a:ln>
        </p:spPr>
      </p:sp>
      <p:pic>
        <p:nvPicPr>
          <p:cNvPr id="15" name="exp2-icon" descr="preencoded.png">    </p:cNvPr>
          <p:cNvPicPr>
            <a:picLocks noChangeAspect="1"/>
          </p:cNvPicPr>
          <p:nvPr/>
        </p:nvPicPr>
        <p:blipFill>
          <a:blip r:embed="rId3"/>
          <a:stretch>
            <a:fillRect/>
          </a:stretch>
        </p:blipFill>
        <p:spPr>
          <a:xfrm>
            <a:off x="905256" y="4242816"/>
            <a:ext cx="310896" cy="310896"/>
          </a:xfrm>
          <a:prstGeom prst="rect">
            <a:avLst/>
          </a:prstGeom>
        </p:spPr>
      </p:pic>
      <p:sp>
        <p:nvSpPr>
          <p:cNvPr id="16" name="exp2-head"/>
          <p:cNvSpPr txBox="1"/>
          <p:nvPr/>
        </p:nvSpPr>
        <p:spPr>
          <a:xfrm>
            <a:off x="1463040" y="40873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Votes are weighted by trust</a:t>
            </a:r>
            <a:endParaRPr lang="en-US" sz="1800" dirty="0"/>
          </a:p>
        </p:txBody>
      </p:sp>
      <p:sp>
        <p:nvSpPr>
          <p:cNvPr id="17" name="exp2-body"/>
          <p:cNvSpPr txBox="1"/>
          <p:nvPr/>
        </p:nvSpPr>
        <p:spPr>
          <a:xfrm>
            <a:off x="777240" y="4800600"/>
            <a:ext cx="4983480" cy="1234440"/>
          </a:xfrm>
          <a:prstGeom prst="rect">
            <a:avLst/>
          </a:prstGeom>
          <a:noFill/>
          <a:ln/>
        </p:spPr>
        <p:txBody>
          <a:bodyPr wrap="square" lIns="0" tIns="0" rIns="0" bIns="0" rtlCol="0" anchor="t"/>
          <a:lstStyle/>
          <a:p>
            <a:pPr indent="0" marL="0">
              <a:buNone/>
            </a:pPr>
            <a:r>
              <a:rPr lang="en-US" sz="1600" dirty="0">
                <a:solidFill>
                  <a:schemeClr val="tx2"/>
                </a:solidFill>
              </a:rPr>
              <a:t>The contrast-scan expert counts more for active tumour — MUSE learns this.</a:t>
            </a:r>
            <a:endParaRPr lang="en-US" sz="1600" dirty="0"/>
          </a:p>
        </p:txBody>
      </p:sp>
      <p:sp>
        <p:nvSpPr>
          <p:cNvPr id="18" name="exp3-card"/>
          <p:cNvSpPr/>
          <p:nvPr/>
        </p:nvSpPr>
        <p:spPr>
          <a:xfrm>
            <a:off x="6172200" y="3886200"/>
            <a:ext cx="5440680" cy="2286000"/>
          </a:xfrm>
          <a:prstGeom prst="roundRect">
            <a:avLst>
              <a:gd name="adj" fmla="val 4800"/>
            </a:avLst>
          </a:prstGeom>
          <a:solidFill>
            <a:schemeClr val="bg2"/>
          </a:solidFill>
          <a:ln w="12700">
            <a:solidFill>
              <a:schemeClr val="bg2"/>
            </a:solidFill>
            <a:prstDash val="solid"/>
          </a:ln>
        </p:spPr>
      </p:sp>
      <p:sp>
        <p:nvSpPr>
          <p:cNvPr id="19" name="exp3-dot"/>
          <p:cNvSpPr/>
          <p:nvPr/>
        </p:nvSpPr>
        <p:spPr>
          <a:xfrm>
            <a:off x="6400800" y="4114800"/>
            <a:ext cx="566928" cy="566928"/>
          </a:xfrm>
          <a:prstGeom prst="ellipse">
            <a:avLst/>
          </a:prstGeom>
          <a:solidFill>
            <a:srgbClr val="81B29A"/>
          </a:solidFill>
          <a:ln w="12700">
            <a:solidFill>
              <a:srgbClr val="81B29A"/>
            </a:solidFill>
            <a:prstDash val="solid"/>
          </a:ln>
        </p:spPr>
      </p:sp>
      <p:pic>
        <p:nvPicPr>
          <p:cNvPr id="20" name="exp3-icon" descr="preencoded.png">    </p:cNvPr>
          <p:cNvPicPr>
            <a:picLocks noChangeAspect="1"/>
          </p:cNvPicPr>
          <p:nvPr/>
        </p:nvPicPr>
        <p:blipFill>
          <a:blip r:embed="rId4"/>
          <a:stretch>
            <a:fillRect/>
          </a:stretch>
        </p:blipFill>
        <p:spPr>
          <a:xfrm>
            <a:off x="6528816" y="4242816"/>
            <a:ext cx="310896" cy="310896"/>
          </a:xfrm>
          <a:prstGeom prst="rect">
            <a:avLst/>
          </a:prstGeom>
        </p:spPr>
      </p:pic>
      <p:sp>
        <p:nvSpPr>
          <p:cNvPr id="21" name="exp3-head"/>
          <p:cNvSpPr txBox="1"/>
          <p:nvPr/>
        </p:nvSpPr>
        <p:spPr>
          <a:xfrm>
            <a:off x="7086600" y="40873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Weighted votes are added up</a:t>
            </a:r>
            <a:endParaRPr lang="en-US" sz="1800" dirty="0"/>
          </a:p>
        </p:txBody>
      </p:sp>
      <p:sp>
        <p:nvSpPr>
          <p:cNvPr id="22" name="exp3-body"/>
          <p:cNvSpPr txBox="1"/>
          <p:nvPr/>
        </p:nvSpPr>
        <p:spPr>
          <a:xfrm>
            <a:off x="6400800" y="4800600"/>
            <a:ext cx="4983480" cy="1234440"/>
          </a:xfrm>
          <a:prstGeom prst="rect">
            <a:avLst/>
          </a:prstGeom>
          <a:noFill/>
          <a:ln/>
        </p:spPr>
        <p:txBody>
          <a:bodyPr wrap="square" lIns="0" tIns="0" rIns="0" bIns="0" rtlCol="0" anchor="t"/>
          <a:lstStyle/>
          <a:p>
            <a:pPr indent="0" marL="0">
              <a:buNone/>
            </a:pPr>
            <a:r>
              <a:rPr lang="en-US" sz="1600" dirty="0">
                <a:solidFill>
                  <a:schemeClr val="tx2"/>
                </a:solidFill>
              </a:rPr>
              <a:t>Agreement → confident. Little evidence or conflict → uncertain, and MUSE says so.</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Three guarantees MUSE can prove</a:t>
            </a:r>
            <a:endParaRPr lang="en-US" sz="3200" dirty="0"/>
          </a:p>
        </p:txBody>
      </p:sp>
      <p:sp>
        <p:nvSpPr>
          <p:cNvPr id="4" name="g0-box"/>
          <p:cNvSpPr/>
          <p:nvPr/>
        </p:nvSpPr>
        <p:spPr>
          <a:xfrm>
            <a:off x="548640" y="1463040"/>
            <a:ext cx="3566160" cy="2743200"/>
          </a:xfrm>
          <a:prstGeom prst="roundRect">
            <a:avLst>
              <a:gd name="adj" fmla="val 3333"/>
            </a:avLst>
          </a:prstGeom>
          <a:solidFill>
            <a:schemeClr val="bg2"/>
          </a:solidFill>
          <a:ln w="12700">
            <a:solidFill>
              <a:schemeClr val="bg2"/>
            </a:solidFill>
            <a:prstDash val="solid"/>
          </a:ln>
        </p:spPr>
      </p:sp>
      <p:sp>
        <p:nvSpPr>
          <p:cNvPr id="5" name="g0-text"/>
          <p:cNvSpPr txBox="1"/>
          <p:nvPr/>
        </p:nvSpPr>
        <p:spPr>
          <a:xfrm>
            <a:off x="731520" y="1572768"/>
            <a:ext cx="3200400" cy="2523744"/>
          </a:xfrm>
          <a:prstGeom prst="rect">
            <a:avLst/>
          </a:prstGeom>
          <a:noFill/>
          <a:ln/>
        </p:spPr>
        <p:txBody>
          <a:bodyPr wrap="square" lIns="0" tIns="0" rIns="0" bIns="0" rtlCol="0" anchor="t"/>
          <a:lstStyle/>
          <a:p>
            <a:pPr indent="0" marL="0">
              <a:buNone/>
            </a:pPr>
            <a:r>
              <a:rPr lang="en-US" sz="1700" b="1" dirty="0">
                <a:solidFill>
                  <a:schemeClr val="accent1"/>
                </a:solidFill>
              </a:rPr>
              <a:t>Order never matters
</a:t>
            </a:r>
            <a:pPr indent="0" marL="0">
              <a:buNone/>
            </a:pPr>
            <a:r>
              <a:rPr lang="en-US" sz="1400" dirty="0">
                <a:solidFill>
                  <a:schemeClr val="tx2"/>
                </a:solidFill>
              </a:rPr>
              <a:t>Fusing FLAIR then T2, or T2 then FLAIR, gives the identical answer (checked: difference 0).</a:t>
            </a:r>
            <a:endParaRPr lang="en-US" sz="1700" dirty="0"/>
          </a:p>
        </p:txBody>
      </p:sp>
      <p:sp>
        <p:nvSpPr>
          <p:cNvPr id="6" name="g1-box"/>
          <p:cNvSpPr/>
          <p:nvPr/>
        </p:nvSpPr>
        <p:spPr>
          <a:xfrm>
            <a:off x="4297680" y="1463040"/>
            <a:ext cx="3566160" cy="2743200"/>
          </a:xfrm>
          <a:prstGeom prst="roundRect">
            <a:avLst>
              <a:gd name="adj" fmla="val 3333"/>
            </a:avLst>
          </a:prstGeom>
          <a:solidFill>
            <a:schemeClr val="bg2"/>
          </a:solidFill>
          <a:ln w="12700">
            <a:solidFill>
              <a:schemeClr val="bg2"/>
            </a:solidFill>
            <a:prstDash val="solid"/>
          </a:ln>
        </p:spPr>
      </p:sp>
      <p:sp>
        <p:nvSpPr>
          <p:cNvPr id="7" name="g1-text"/>
          <p:cNvSpPr txBox="1"/>
          <p:nvPr/>
        </p:nvSpPr>
        <p:spPr>
          <a:xfrm>
            <a:off x="4480560" y="1572768"/>
            <a:ext cx="3200400" cy="2523744"/>
          </a:xfrm>
          <a:prstGeom prst="rect">
            <a:avLst/>
          </a:prstGeom>
          <a:noFill/>
          <a:ln/>
        </p:spPr>
        <p:txBody>
          <a:bodyPr wrap="square" lIns="0" tIns="0" rIns="0" bIns="0" rtlCol="0" anchor="t"/>
          <a:lstStyle/>
          <a:p>
            <a:pPr indent="0" marL="0">
              <a:buNone/>
            </a:pPr>
            <a:r>
              <a:rPr lang="en-US" sz="1700" b="1" dirty="0">
                <a:solidFill>
                  <a:schemeClr val="accent1"/>
                </a:solidFill>
              </a:rPr>
              <a:t>Missing scans are harmless
</a:t>
            </a:r>
            <a:pPr indent="0" marL="0">
              <a:buNone/>
            </a:pPr>
            <a:r>
              <a:rPr lang="en-US" sz="1400" dirty="0">
                <a:solidFill>
                  <a:schemeClr val="tx2"/>
                </a:solidFill>
              </a:rPr>
              <a:t>A missing scan adds exactly zero — one model serves all 15 combinations.</a:t>
            </a:r>
            <a:endParaRPr lang="en-US" sz="1700" dirty="0"/>
          </a:p>
        </p:txBody>
      </p:sp>
      <p:sp>
        <p:nvSpPr>
          <p:cNvPr id="8" name="g2-box"/>
          <p:cNvSpPr/>
          <p:nvPr/>
        </p:nvSpPr>
        <p:spPr>
          <a:xfrm>
            <a:off x="8046720" y="1463040"/>
            <a:ext cx="3566160" cy="2743200"/>
          </a:xfrm>
          <a:prstGeom prst="roundRect">
            <a:avLst>
              <a:gd name="adj" fmla="val 3333"/>
            </a:avLst>
          </a:prstGeom>
          <a:solidFill>
            <a:schemeClr val="bg2"/>
          </a:solidFill>
          <a:ln w="12700">
            <a:solidFill>
              <a:schemeClr val="bg2"/>
            </a:solidFill>
            <a:prstDash val="solid"/>
          </a:ln>
        </p:spPr>
      </p:sp>
      <p:sp>
        <p:nvSpPr>
          <p:cNvPr id="9" name="g2-text"/>
          <p:cNvSpPr txBox="1"/>
          <p:nvPr/>
        </p:nvSpPr>
        <p:spPr>
          <a:xfrm>
            <a:off x="8229600" y="1572768"/>
            <a:ext cx="3200400" cy="2523744"/>
          </a:xfrm>
          <a:prstGeom prst="rect">
            <a:avLst/>
          </a:prstGeom>
          <a:noFill/>
          <a:ln/>
        </p:spPr>
        <p:txBody>
          <a:bodyPr wrap="square" lIns="0" tIns="0" rIns="0" bIns="0" rtlCol="0" anchor="t"/>
          <a:lstStyle/>
          <a:p>
            <a:pPr indent="0" marL="0">
              <a:buNone/>
            </a:pPr>
            <a:r>
              <a:rPr lang="en-US" sz="1700" b="1" dirty="0">
                <a:solidFill>
                  <a:schemeClr val="accent1"/>
                </a:solidFill>
              </a:rPr>
              <a:t>More scans never raise doubt
</a:t>
            </a:r>
            <a:pPr indent="0" marL="0">
              <a:buNone/>
            </a:pPr>
            <a:r>
              <a:rPr lang="en-US" sz="1400" dirty="0">
                <a:solidFill>
                  <a:schemeClr val="tx2"/>
                </a:solidFill>
              </a:rPr>
              <a:t>Adding a scan can only lower uncertainty (checked on real patients: 0 violations).</a:t>
            </a:r>
            <a:endParaRPr lang="en-US" sz="1700" dirty="0"/>
          </a:p>
        </p:txBody>
      </p:sp>
      <p:sp>
        <p:nvSpPr>
          <p:cNvPr id="10" name="g-note"/>
          <p:cNvSpPr txBox="1"/>
          <p:nvPr/>
        </p:nvSpPr>
        <p:spPr>
          <a:xfrm>
            <a:off x="548640" y="4572000"/>
            <a:ext cx="11064240" cy="731520"/>
          </a:xfrm>
          <a:prstGeom prst="rect">
            <a:avLst/>
          </a:prstGeom>
          <a:noFill/>
          <a:ln/>
        </p:spPr>
        <p:txBody>
          <a:bodyPr wrap="square" lIns="0" tIns="0" rIns="0" bIns="0" rtlCol="0" anchor="ctr"/>
          <a:lstStyle/>
          <a:p>
            <a:pPr indent="0" marL="0">
              <a:buNone/>
            </a:pPr>
            <a:r>
              <a:rPr lang="en-US" sz="1500" i="1" dirty="0">
                <a:solidFill>
                  <a:schemeClr val="tx2"/>
                </a:solidFill>
              </a:rPr>
              <a:t>Honest note: these follow from known 'cumulative fusion' maths; MUSE's novelty is the complete trustworthy system built on them.</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Chapter 4 · The reasoning journey</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bg1"/>
                </a:solidFill>
              </a:rPr>
              <a:t>What we changed, and why — decided on validation data only</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First, we corrected the original plan</a:t>
            </a:r>
            <a:endParaRPr lang="en-US" sz="3200" dirty="0"/>
          </a:p>
        </p:txBody>
      </p:sp>
      <p:sp>
        <p:nvSpPr>
          <p:cNvPr id="4" name="fix1-card"/>
          <p:cNvSpPr/>
          <p:nvPr/>
        </p:nvSpPr>
        <p:spPr>
          <a:xfrm>
            <a:off x="548640" y="1371600"/>
            <a:ext cx="3611880" cy="4023360"/>
          </a:xfrm>
          <a:prstGeom prst="roundRect">
            <a:avLst>
              <a:gd name="adj" fmla="val 3038"/>
            </a:avLst>
          </a:prstGeom>
          <a:solidFill>
            <a:schemeClr val="bg2"/>
          </a:solidFill>
          <a:ln w="12700">
            <a:solidFill>
              <a:schemeClr val="bg2"/>
            </a:solidFill>
            <a:prstDash val="solid"/>
          </a:ln>
        </p:spPr>
      </p:sp>
      <p:sp>
        <p:nvSpPr>
          <p:cNvPr id="5" name="fix1-dot"/>
          <p:cNvSpPr/>
          <p:nvPr/>
        </p:nvSpPr>
        <p:spPr>
          <a:xfrm>
            <a:off x="777240" y="1600200"/>
            <a:ext cx="566928" cy="566928"/>
          </a:xfrm>
          <a:prstGeom prst="ellipse">
            <a:avLst/>
          </a:prstGeom>
          <a:solidFill>
            <a:srgbClr val="E07A5F"/>
          </a:solidFill>
          <a:ln w="12700">
            <a:solidFill>
              <a:srgbClr val="E07A5F"/>
            </a:solidFill>
            <a:prstDash val="solid"/>
          </a:ln>
        </p:spPr>
      </p:sp>
      <p:pic>
        <p:nvPicPr>
          <p:cNvPr id="6" name="fix1-icon" descr="preencoded.png">    </p:cNvPr>
          <p:cNvPicPr>
            <a:picLocks noChangeAspect="1"/>
          </p:cNvPicPr>
          <p:nvPr/>
        </p:nvPicPr>
        <p:blipFill>
          <a:blip r:embed="rId1"/>
          <a:stretch>
            <a:fillRect/>
          </a:stretch>
        </p:blipFill>
        <p:spPr>
          <a:xfrm>
            <a:off x="905256" y="1728216"/>
            <a:ext cx="310896" cy="310896"/>
          </a:xfrm>
          <a:prstGeom prst="rect">
            <a:avLst/>
          </a:prstGeom>
        </p:spPr>
      </p:pic>
      <p:sp>
        <p:nvSpPr>
          <p:cNvPr id="7" name="fix1-head"/>
          <p:cNvSpPr txBox="1"/>
          <p:nvPr/>
        </p:nvSpPr>
        <p:spPr>
          <a:xfrm>
            <a:off x="1463040" y="1572768"/>
            <a:ext cx="2560320" cy="594360"/>
          </a:xfrm>
          <a:prstGeom prst="rect">
            <a:avLst/>
          </a:prstGeom>
          <a:noFill/>
          <a:ln/>
        </p:spPr>
        <p:txBody>
          <a:bodyPr wrap="square" lIns="0" tIns="0" rIns="0" bIns="0" rtlCol="0" anchor="ctr"/>
          <a:lstStyle/>
          <a:p>
            <a:pPr indent="0" marL="0">
              <a:buNone/>
            </a:pPr>
            <a:r>
              <a:rPr lang="en-US" sz="1800" b="1" dirty="0">
                <a:solidFill>
                  <a:schemeClr val="tx1"/>
                </a:solidFill>
              </a:rPr>
              <a:t>False claim removed</a:t>
            </a:r>
            <a:endParaRPr lang="en-US" sz="1800" dirty="0"/>
          </a:p>
        </p:txBody>
      </p:sp>
      <p:sp>
        <p:nvSpPr>
          <p:cNvPr id="8" name="fix1-body"/>
          <p:cNvSpPr txBox="1"/>
          <p:nvPr/>
        </p:nvSpPr>
        <p:spPr>
          <a:xfrm>
            <a:off x="777240" y="2286000"/>
            <a:ext cx="3154680" cy="2971800"/>
          </a:xfrm>
          <a:prstGeom prst="rect">
            <a:avLst/>
          </a:prstGeom>
          <a:noFill/>
          <a:ln/>
        </p:spPr>
        <p:txBody>
          <a:bodyPr wrap="square" lIns="0" tIns="0" rIns="0" bIns="0" rtlCol="0" anchor="t"/>
          <a:lstStyle/>
          <a:p>
            <a:pPr indent="0" marL="0">
              <a:buNone/>
            </a:pPr>
            <a:r>
              <a:rPr lang="en-US" sz="1500" dirty="0">
                <a:solidFill>
                  <a:schemeClr val="tx2"/>
                </a:solidFill>
              </a:rPr>
              <a:t>'Dempster's rule is order-dependent' — it is not. We proved and measured it: difference 3×10⁻¹⁶.</a:t>
            </a:r>
            <a:endParaRPr lang="en-US" sz="1500" dirty="0"/>
          </a:p>
        </p:txBody>
      </p:sp>
      <p:sp>
        <p:nvSpPr>
          <p:cNvPr id="9" name="fix2-card"/>
          <p:cNvSpPr/>
          <p:nvPr/>
        </p:nvSpPr>
        <p:spPr>
          <a:xfrm>
            <a:off x="4288536" y="1371600"/>
            <a:ext cx="3611880" cy="4023360"/>
          </a:xfrm>
          <a:prstGeom prst="roundRect">
            <a:avLst>
              <a:gd name="adj" fmla="val 3038"/>
            </a:avLst>
          </a:prstGeom>
          <a:solidFill>
            <a:schemeClr val="bg2"/>
          </a:solidFill>
          <a:ln w="12700">
            <a:solidFill>
              <a:schemeClr val="bg2"/>
            </a:solidFill>
            <a:prstDash val="solid"/>
          </a:ln>
        </p:spPr>
      </p:sp>
      <p:sp>
        <p:nvSpPr>
          <p:cNvPr id="10" name="fix2-dot"/>
          <p:cNvSpPr/>
          <p:nvPr/>
        </p:nvSpPr>
        <p:spPr>
          <a:xfrm>
            <a:off x="4517136" y="1600200"/>
            <a:ext cx="566928" cy="566928"/>
          </a:xfrm>
          <a:prstGeom prst="ellipse">
            <a:avLst/>
          </a:prstGeom>
          <a:solidFill>
            <a:srgbClr val="F2CC8F"/>
          </a:solidFill>
          <a:ln w="12700">
            <a:solidFill>
              <a:srgbClr val="F2CC8F"/>
            </a:solidFill>
            <a:prstDash val="solid"/>
          </a:ln>
        </p:spPr>
      </p:sp>
      <p:pic>
        <p:nvPicPr>
          <p:cNvPr id="11" name="fix2-icon" descr="preencoded.png">    </p:cNvPr>
          <p:cNvPicPr>
            <a:picLocks noChangeAspect="1"/>
          </p:cNvPicPr>
          <p:nvPr/>
        </p:nvPicPr>
        <p:blipFill>
          <a:blip r:embed="rId2"/>
          <a:stretch>
            <a:fillRect/>
          </a:stretch>
        </p:blipFill>
        <p:spPr>
          <a:xfrm>
            <a:off x="4645152" y="1728216"/>
            <a:ext cx="310896" cy="310896"/>
          </a:xfrm>
          <a:prstGeom prst="rect">
            <a:avLst/>
          </a:prstGeom>
        </p:spPr>
      </p:pic>
      <p:sp>
        <p:nvSpPr>
          <p:cNvPr id="12" name="fix2-head"/>
          <p:cNvSpPr txBox="1"/>
          <p:nvPr/>
        </p:nvSpPr>
        <p:spPr>
          <a:xfrm>
            <a:off x="5202936" y="1572768"/>
            <a:ext cx="2560320" cy="594360"/>
          </a:xfrm>
          <a:prstGeom prst="rect">
            <a:avLst/>
          </a:prstGeom>
          <a:noFill/>
          <a:ln/>
        </p:spPr>
        <p:txBody>
          <a:bodyPr wrap="square" lIns="0" tIns="0" rIns="0" bIns="0" rtlCol="0" anchor="ctr"/>
          <a:lstStyle/>
          <a:p>
            <a:pPr indent="0" marL="0">
              <a:buNone/>
            </a:pPr>
            <a:r>
              <a:rPr lang="en-US" sz="1800" b="1" dirty="0">
                <a:solidFill>
                  <a:schemeClr val="tx1"/>
                </a:solidFill>
              </a:rPr>
              <a:t>Wrong sign fixed</a:t>
            </a:r>
            <a:endParaRPr lang="en-US" sz="1800" dirty="0"/>
          </a:p>
        </p:txBody>
      </p:sp>
      <p:sp>
        <p:nvSpPr>
          <p:cNvPr id="13" name="fix2-body"/>
          <p:cNvSpPr txBox="1"/>
          <p:nvPr/>
        </p:nvSpPr>
        <p:spPr>
          <a:xfrm>
            <a:off x="4517136" y="2286000"/>
            <a:ext cx="3154680" cy="2971800"/>
          </a:xfrm>
          <a:prstGeom prst="rect">
            <a:avLst/>
          </a:prstGeom>
          <a:noFill/>
          <a:ln/>
        </p:spPr>
        <p:txBody>
          <a:bodyPr wrap="square" lIns="0" tIns="0" rIns="0" bIns="0" rtlCol="0" anchor="t"/>
          <a:lstStyle/>
          <a:p>
            <a:pPr indent="0" marL="0">
              <a:buNone/>
            </a:pPr>
            <a:r>
              <a:rPr lang="en-US" sz="1500" dirty="0">
                <a:solidFill>
                  <a:schemeClr val="tx2"/>
                </a:solidFill>
              </a:rPr>
              <a:t>The 'balance' term pushed scans apart instead of balancing them. Fixed; the original is kept as an ablation.</a:t>
            </a:r>
            <a:endParaRPr lang="en-US" sz="1500" dirty="0"/>
          </a:p>
        </p:txBody>
      </p:sp>
      <p:sp>
        <p:nvSpPr>
          <p:cNvPr id="14" name="fix3-card"/>
          <p:cNvSpPr/>
          <p:nvPr/>
        </p:nvSpPr>
        <p:spPr>
          <a:xfrm>
            <a:off x="8028432" y="1371600"/>
            <a:ext cx="3611880" cy="4023360"/>
          </a:xfrm>
          <a:prstGeom prst="roundRect">
            <a:avLst>
              <a:gd name="adj" fmla="val 3038"/>
            </a:avLst>
          </a:prstGeom>
          <a:solidFill>
            <a:schemeClr val="bg2"/>
          </a:solidFill>
          <a:ln w="12700">
            <a:solidFill>
              <a:schemeClr val="bg2"/>
            </a:solidFill>
            <a:prstDash val="solid"/>
          </a:ln>
        </p:spPr>
      </p:sp>
      <p:sp>
        <p:nvSpPr>
          <p:cNvPr id="15" name="fix3-dot"/>
          <p:cNvSpPr/>
          <p:nvPr/>
        </p:nvSpPr>
        <p:spPr>
          <a:xfrm>
            <a:off x="8257032" y="1600200"/>
            <a:ext cx="566928" cy="566928"/>
          </a:xfrm>
          <a:prstGeom prst="ellipse">
            <a:avLst/>
          </a:prstGeom>
          <a:solidFill>
            <a:srgbClr val="1F7A8C"/>
          </a:solidFill>
          <a:ln w="12700">
            <a:solidFill>
              <a:srgbClr val="1F7A8C"/>
            </a:solidFill>
            <a:prstDash val="solid"/>
          </a:ln>
        </p:spPr>
      </p:sp>
      <p:pic>
        <p:nvPicPr>
          <p:cNvPr id="16" name="fix3-icon" descr="preencoded.png">    </p:cNvPr>
          <p:cNvPicPr>
            <a:picLocks noChangeAspect="1"/>
          </p:cNvPicPr>
          <p:nvPr/>
        </p:nvPicPr>
        <p:blipFill>
          <a:blip r:embed="rId3"/>
          <a:stretch>
            <a:fillRect/>
          </a:stretch>
        </p:blipFill>
        <p:spPr>
          <a:xfrm>
            <a:off x="8385048" y="1728216"/>
            <a:ext cx="310896" cy="310896"/>
          </a:xfrm>
          <a:prstGeom prst="rect">
            <a:avLst/>
          </a:prstGeom>
        </p:spPr>
      </p:pic>
      <p:sp>
        <p:nvSpPr>
          <p:cNvPr id="17" name="fix3-head"/>
          <p:cNvSpPr txBox="1"/>
          <p:nvPr/>
        </p:nvSpPr>
        <p:spPr>
          <a:xfrm>
            <a:off x="8942832" y="1572768"/>
            <a:ext cx="2560320" cy="594360"/>
          </a:xfrm>
          <a:prstGeom prst="rect">
            <a:avLst/>
          </a:prstGeom>
          <a:noFill/>
          <a:ln/>
        </p:spPr>
        <p:txBody>
          <a:bodyPr wrap="square" lIns="0" tIns="0" rIns="0" bIns="0" rtlCol="0" anchor="ctr"/>
          <a:lstStyle/>
          <a:p>
            <a:pPr indent="0" marL="0">
              <a:buNone/>
            </a:pPr>
            <a:r>
              <a:rPr lang="en-US" sz="1800" b="1" dirty="0">
                <a:solidFill>
                  <a:schemeClr val="tx1"/>
                </a:solidFill>
              </a:rPr>
              <a:t>Honest novelty</a:t>
            </a:r>
            <a:endParaRPr lang="en-US" sz="1800" dirty="0"/>
          </a:p>
        </p:txBody>
      </p:sp>
      <p:sp>
        <p:nvSpPr>
          <p:cNvPr id="18" name="fix3-body"/>
          <p:cNvSpPr txBox="1"/>
          <p:nvPr/>
        </p:nvSpPr>
        <p:spPr>
          <a:xfrm>
            <a:off x="8257032" y="2286000"/>
            <a:ext cx="3154680" cy="2971800"/>
          </a:xfrm>
          <a:prstGeom prst="rect">
            <a:avLst/>
          </a:prstGeom>
          <a:noFill/>
          <a:ln/>
        </p:spPr>
        <p:txBody>
          <a:bodyPr wrap="square" lIns="0" tIns="0" rIns="0" bIns="0" rtlCol="0" anchor="t"/>
          <a:lstStyle/>
          <a:p>
            <a:pPr indent="0" marL="0">
              <a:buNone/>
            </a:pPr>
            <a:r>
              <a:rPr lang="en-US" sz="1500" dirty="0">
                <a:solidFill>
                  <a:schemeClr val="tx2"/>
                </a:solidFill>
              </a:rPr>
              <a:t>Evidence-sum fusion already exists; MUSE's contribution is the system: gate, vacuous mass, uncertainty, explanations.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Each design step was earned on validation data</a:t>
            </a:r>
            <a:endParaRPr lang="en-US" sz="3200" dirty="0"/>
          </a:p>
        </p:txBody>
      </p:sp>
      <p:graphicFrame>
        <p:nvGraphicFramePr>
          <p:cNvPr id="4" name="journey-chart" descr=""/>
          <p:cNvGraphicFramePr/>
          <p:nvPr/>
        </p:nvGraphicFramePr>
        <p:xfrm>
          <a:off x="548640" y="137160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journey-notes"/>
          <p:cNvSpPr txBox="1"/>
          <p:nvPr/>
        </p:nvSpPr>
        <p:spPr>
          <a:xfrm>
            <a:off x="7406640" y="1554480"/>
            <a:ext cx="4206240" cy="384048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chemeClr val="tx2"/>
                </a:solidFill>
              </a:rPr>
              <a:t>Bug found: MUSE could not learn on Amazon-Photo → added normalisation</a:t>
            </a:r>
            <a:endParaRPr lang="en-US" sz="1500" dirty="0"/>
          </a:p>
          <a:p>
            <a:pPr marL="342900" indent="-342900">
              <a:spcAft>
                <a:spcPts val="800"/>
              </a:spcAft>
              <a:buSzPct val="100000"/>
              <a:buChar char="•"/>
            </a:pPr>
            <a:r>
              <a:rPr lang="en-US" sz="1500" dirty="0">
                <a:solidFill>
                  <a:schemeClr val="tx2"/>
                </a:solidFill>
              </a:rPr>
              <a:t>MRI as coarse graphs capped accuracy → rebuilt as full 3D U-Nets</a:t>
            </a:r>
            <a:endParaRPr lang="en-US" sz="1500" dirty="0"/>
          </a:p>
          <a:p>
            <a:pPr marL="342900" indent="-342900">
              <a:spcAft>
                <a:spcPts val="800"/>
              </a:spcAft>
              <a:buSzPct val="100000"/>
              <a:buChar char="•"/>
            </a:pPr>
            <a:r>
              <a:rPr lang="en-US" sz="1500" dirty="0">
                <a:solidFill>
                  <a:schemeClr val="tx2"/>
                </a:solidFill>
              </a:rPr>
              <a:t>Same fixes given to baselines that broke (ECD, EGNN) — fairness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Chapter 5 · How the code is built</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bg1"/>
                </a:solidFill>
              </a:rPr>
              <a:t>From raw scans to tables and figures, reproducibly</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The pipeline, end to end</a:t>
            </a:r>
            <a:endParaRPr lang="en-US" sz="3200" dirty="0"/>
          </a:p>
        </p:txBody>
      </p:sp>
      <p:sp>
        <p:nvSpPr>
          <p:cNvPr id="4" name="pipe-0"/>
          <p:cNvSpPr/>
          <p:nvPr/>
        </p:nvSpPr>
        <p:spPr>
          <a:xfrm>
            <a:off x="548640" y="1828800"/>
            <a:ext cx="1691640" cy="2651760"/>
          </a:xfrm>
          <a:prstGeom prst="roundRect">
            <a:avLst>
              <a:gd name="adj" fmla="val 6486"/>
            </a:avLst>
          </a:prstGeom>
          <a:solidFill>
            <a:schemeClr val="accent1"/>
          </a:solidFill>
          <a:ln w="12700">
            <a:solidFill>
              <a:schemeClr val="accent1"/>
            </a:solidFill>
            <a:prstDash val="solid"/>
          </a:ln>
        </p:spPr>
      </p:sp>
      <p:sp>
        <p:nvSpPr>
          <p:cNvPr id="5" name="pipe-text-0"/>
          <p:cNvSpPr txBox="1"/>
          <p:nvPr/>
        </p:nvSpPr>
        <p:spPr>
          <a:xfrm>
            <a:off x="658368" y="1965960"/>
            <a:ext cx="1472184" cy="2377440"/>
          </a:xfrm>
          <a:prstGeom prst="rect">
            <a:avLst/>
          </a:prstGeom>
          <a:noFill/>
          <a:ln/>
        </p:spPr>
        <p:txBody>
          <a:bodyPr wrap="square" lIns="0" tIns="0" rIns="0" bIns="0" rtlCol="0" anchor="t"/>
          <a:lstStyle/>
          <a:p>
            <a:pPr indent="0" marL="0">
              <a:buNone/>
            </a:pPr>
            <a:r>
              <a:rPr lang="en-US" sz="2600" b="1" dirty="0">
                <a:solidFill>
                  <a:schemeClr val="bg1"/>
                </a:solidFill>
              </a:rPr>
              <a:t>1
</a:t>
            </a:r>
            <a:pPr indent="0" marL="0">
              <a:buNone/>
            </a:pPr>
            <a:r>
              <a:rPr lang="en-US" sz="1600" b="1" dirty="0">
                <a:solidFill>
                  <a:schemeClr val="bg1"/>
                </a:solidFill>
              </a:rPr>
              <a:t>Download
</a:t>
            </a:r>
            <a:pPr indent="0" marL="0">
              <a:buNone/>
            </a:pPr>
            <a:r>
              <a:rPr lang="en-US" sz="1300" dirty="0">
                <a:solidFill>
                  <a:schemeClr val="bg1"/>
                </a:solidFill>
              </a:rPr>
              <a:t>Public MSD brain-tumour MRI, 484 patients</a:t>
            </a:r>
            <a:endParaRPr lang="en-US" sz="2600" dirty="0"/>
          </a:p>
        </p:txBody>
      </p:sp>
      <p:sp>
        <p:nvSpPr>
          <p:cNvPr id="6" name="pipe-1"/>
          <p:cNvSpPr/>
          <p:nvPr/>
        </p:nvSpPr>
        <p:spPr>
          <a:xfrm>
            <a:off x="2441448" y="1828800"/>
            <a:ext cx="1691640" cy="2651760"/>
          </a:xfrm>
          <a:prstGeom prst="roundRect">
            <a:avLst>
              <a:gd name="adj" fmla="val 6486"/>
            </a:avLst>
          </a:prstGeom>
          <a:solidFill>
            <a:schemeClr val="accent5"/>
          </a:solidFill>
          <a:ln w="12700">
            <a:solidFill>
              <a:schemeClr val="accent5"/>
            </a:solidFill>
            <a:prstDash val="solid"/>
          </a:ln>
        </p:spPr>
      </p:sp>
      <p:sp>
        <p:nvSpPr>
          <p:cNvPr id="7" name="pipe-text-1"/>
          <p:cNvSpPr txBox="1"/>
          <p:nvPr/>
        </p:nvSpPr>
        <p:spPr>
          <a:xfrm>
            <a:off x="2551176" y="1965960"/>
            <a:ext cx="1472184" cy="2377440"/>
          </a:xfrm>
          <a:prstGeom prst="rect">
            <a:avLst/>
          </a:prstGeom>
          <a:noFill/>
          <a:ln/>
        </p:spPr>
        <p:txBody>
          <a:bodyPr wrap="square" lIns="0" tIns="0" rIns="0" bIns="0" rtlCol="0" anchor="t"/>
          <a:lstStyle/>
          <a:p>
            <a:pPr indent="0" marL="0">
              <a:buNone/>
            </a:pPr>
            <a:r>
              <a:rPr lang="en-US" sz="2600" b="1" dirty="0">
                <a:solidFill>
                  <a:schemeClr val="bg1"/>
                </a:solidFill>
              </a:rPr>
              <a:t>2
</a:t>
            </a:r>
            <a:pPr indent="0" marL="0">
              <a:buNone/>
            </a:pPr>
            <a:r>
              <a:rPr lang="en-US" sz="1600" b="1" dirty="0">
                <a:solidFill>
                  <a:schemeClr val="bg1"/>
                </a:solidFill>
              </a:rPr>
              <a:t>Preprocess
</a:t>
            </a:r>
            <a:pPr indent="0" marL="0">
              <a:buNone/>
            </a:pPr>
            <a:r>
              <a:rPr lang="en-US" sz="1300" dirty="0">
                <a:solidFill>
                  <a:schemeClr val="bg1"/>
                </a:solidFill>
              </a:rPr>
              <a:t>Crop to brain, normalise each scan</a:t>
            </a:r>
            <a:endParaRPr lang="en-US" sz="2600" dirty="0"/>
          </a:p>
        </p:txBody>
      </p:sp>
      <p:sp>
        <p:nvSpPr>
          <p:cNvPr id="8" name="pipe-2"/>
          <p:cNvSpPr/>
          <p:nvPr/>
        </p:nvSpPr>
        <p:spPr>
          <a:xfrm>
            <a:off x="4334256" y="1828800"/>
            <a:ext cx="1691640" cy="2651760"/>
          </a:xfrm>
          <a:prstGeom prst="roundRect">
            <a:avLst>
              <a:gd name="adj" fmla="val 6486"/>
            </a:avLst>
          </a:prstGeom>
          <a:solidFill>
            <a:schemeClr val="accent1"/>
          </a:solidFill>
          <a:ln w="12700">
            <a:solidFill>
              <a:schemeClr val="accent1"/>
            </a:solidFill>
            <a:prstDash val="solid"/>
          </a:ln>
        </p:spPr>
      </p:sp>
      <p:sp>
        <p:nvSpPr>
          <p:cNvPr id="9" name="pipe-text-2"/>
          <p:cNvSpPr txBox="1"/>
          <p:nvPr/>
        </p:nvSpPr>
        <p:spPr>
          <a:xfrm>
            <a:off x="4443984" y="1965960"/>
            <a:ext cx="1472184" cy="2377440"/>
          </a:xfrm>
          <a:prstGeom prst="rect">
            <a:avLst/>
          </a:prstGeom>
          <a:noFill/>
          <a:ln/>
        </p:spPr>
        <p:txBody>
          <a:bodyPr wrap="square" lIns="0" tIns="0" rIns="0" bIns="0" rtlCol="0" anchor="t"/>
          <a:lstStyle/>
          <a:p>
            <a:pPr indent="0" marL="0">
              <a:buNone/>
            </a:pPr>
            <a:r>
              <a:rPr lang="en-US" sz="2600" b="1" dirty="0">
                <a:solidFill>
                  <a:schemeClr val="bg1"/>
                </a:solidFill>
              </a:rPr>
              <a:t>3
</a:t>
            </a:r>
            <a:pPr indent="0" marL="0">
              <a:buNone/>
            </a:pPr>
            <a:r>
              <a:rPr lang="en-US" sz="1600" b="1" dirty="0">
                <a:solidFill>
                  <a:schemeClr val="bg1"/>
                </a:solidFill>
              </a:rPr>
              <a:t>Train
</a:t>
            </a:r>
            <a:pPr indent="0" marL="0">
              <a:buNone/>
            </a:pPr>
            <a:r>
              <a:rPr lang="en-US" sz="1300" dirty="0">
                <a:solidFill>
                  <a:schemeClr val="bg1"/>
                </a:solidFill>
              </a:rPr>
              <a:t>3D crops, random scans hidden, 12,000 steps</a:t>
            </a:r>
            <a:endParaRPr lang="en-US" sz="2600" dirty="0"/>
          </a:p>
        </p:txBody>
      </p:sp>
      <p:sp>
        <p:nvSpPr>
          <p:cNvPr id="10" name="pipe-3"/>
          <p:cNvSpPr/>
          <p:nvPr/>
        </p:nvSpPr>
        <p:spPr>
          <a:xfrm>
            <a:off x="6227064" y="1828800"/>
            <a:ext cx="1691640" cy="2651760"/>
          </a:xfrm>
          <a:prstGeom prst="roundRect">
            <a:avLst>
              <a:gd name="adj" fmla="val 6486"/>
            </a:avLst>
          </a:prstGeom>
          <a:solidFill>
            <a:schemeClr val="accent5"/>
          </a:solidFill>
          <a:ln w="12700">
            <a:solidFill>
              <a:schemeClr val="accent5"/>
            </a:solidFill>
            <a:prstDash val="solid"/>
          </a:ln>
        </p:spPr>
      </p:sp>
      <p:sp>
        <p:nvSpPr>
          <p:cNvPr id="11" name="pipe-text-3"/>
          <p:cNvSpPr txBox="1"/>
          <p:nvPr/>
        </p:nvSpPr>
        <p:spPr>
          <a:xfrm>
            <a:off x="6336792" y="1965960"/>
            <a:ext cx="1472184" cy="2377440"/>
          </a:xfrm>
          <a:prstGeom prst="rect">
            <a:avLst/>
          </a:prstGeom>
          <a:noFill/>
          <a:ln/>
        </p:spPr>
        <p:txBody>
          <a:bodyPr wrap="square" lIns="0" tIns="0" rIns="0" bIns="0" rtlCol="0" anchor="t"/>
          <a:lstStyle/>
          <a:p>
            <a:pPr indent="0" marL="0">
              <a:buNone/>
            </a:pPr>
            <a:r>
              <a:rPr lang="en-US" sz="2600" b="1" dirty="0">
                <a:solidFill>
                  <a:schemeClr val="bg1"/>
                </a:solidFill>
              </a:rPr>
              <a:t>4
</a:t>
            </a:r>
            <a:pPr indent="0" marL="0">
              <a:buNone/>
            </a:pPr>
            <a:r>
              <a:rPr lang="en-US" sz="1600" b="1" dirty="0">
                <a:solidFill>
                  <a:schemeClr val="bg1"/>
                </a:solidFill>
              </a:rPr>
              <a:t>Validate
</a:t>
            </a:r>
            <a:pPr indent="0" marL="0">
              <a:buNone/>
            </a:pPr>
            <a:r>
              <a:rPr lang="en-US" sz="1300" dirty="0">
                <a:solidFill>
                  <a:schemeClr val="bg1"/>
                </a:solidFill>
              </a:rPr>
              <a:t>Pick best checkpoint on unseen validation patients</a:t>
            </a:r>
            <a:endParaRPr lang="en-US" sz="2600" dirty="0"/>
          </a:p>
        </p:txBody>
      </p:sp>
      <p:sp>
        <p:nvSpPr>
          <p:cNvPr id="12" name="pipe-4"/>
          <p:cNvSpPr/>
          <p:nvPr/>
        </p:nvSpPr>
        <p:spPr>
          <a:xfrm>
            <a:off x="8119872" y="1828800"/>
            <a:ext cx="1691640" cy="2651760"/>
          </a:xfrm>
          <a:prstGeom prst="roundRect">
            <a:avLst>
              <a:gd name="adj" fmla="val 6486"/>
            </a:avLst>
          </a:prstGeom>
          <a:solidFill>
            <a:schemeClr val="accent1"/>
          </a:solidFill>
          <a:ln w="12700">
            <a:solidFill>
              <a:schemeClr val="accent1"/>
            </a:solidFill>
            <a:prstDash val="solid"/>
          </a:ln>
        </p:spPr>
      </p:sp>
      <p:sp>
        <p:nvSpPr>
          <p:cNvPr id="13" name="pipe-text-4"/>
          <p:cNvSpPr txBox="1"/>
          <p:nvPr/>
        </p:nvSpPr>
        <p:spPr>
          <a:xfrm>
            <a:off x="8229600" y="1965960"/>
            <a:ext cx="1472184" cy="2377440"/>
          </a:xfrm>
          <a:prstGeom prst="rect">
            <a:avLst/>
          </a:prstGeom>
          <a:noFill/>
          <a:ln/>
        </p:spPr>
        <p:txBody>
          <a:bodyPr wrap="square" lIns="0" tIns="0" rIns="0" bIns="0" rtlCol="0" anchor="t"/>
          <a:lstStyle/>
          <a:p>
            <a:pPr indent="0" marL="0">
              <a:buNone/>
            </a:pPr>
            <a:r>
              <a:rPr lang="en-US" sz="2600" b="1" dirty="0">
                <a:solidFill>
                  <a:schemeClr val="bg1"/>
                </a:solidFill>
              </a:rPr>
              <a:t>5
</a:t>
            </a:r>
            <a:pPr indent="0" marL="0">
              <a:buNone/>
            </a:pPr>
            <a:r>
              <a:rPr lang="en-US" sz="1600" b="1" dirty="0">
                <a:solidFill>
                  <a:schemeClr val="bg1"/>
                </a:solidFill>
              </a:rPr>
              <a:t>Test
</a:t>
            </a:r>
            <a:pPr indent="0" marL="0">
              <a:buNone/>
            </a:pPr>
            <a:r>
              <a:rPr lang="en-US" sz="1300" dirty="0">
                <a:solidFill>
                  <a:schemeClr val="bg1"/>
                </a:solidFill>
              </a:rPr>
              <a:t>98 patients × 15 scan combinations</a:t>
            </a:r>
            <a:endParaRPr lang="en-US" sz="2600" dirty="0"/>
          </a:p>
        </p:txBody>
      </p:sp>
      <p:sp>
        <p:nvSpPr>
          <p:cNvPr id="14" name="pipe-5"/>
          <p:cNvSpPr/>
          <p:nvPr/>
        </p:nvSpPr>
        <p:spPr>
          <a:xfrm>
            <a:off x="10012680" y="1828800"/>
            <a:ext cx="1691640" cy="2651760"/>
          </a:xfrm>
          <a:prstGeom prst="roundRect">
            <a:avLst>
              <a:gd name="adj" fmla="val 6486"/>
            </a:avLst>
          </a:prstGeom>
          <a:solidFill>
            <a:schemeClr val="accent5"/>
          </a:solidFill>
          <a:ln w="12700">
            <a:solidFill>
              <a:schemeClr val="accent5"/>
            </a:solidFill>
            <a:prstDash val="solid"/>
          </a:ln>
        </p:spPr>
      </p:sp>
      <p:sp>
        <p:nvSpPr>
          <p:cNvPr id="15" name="pipe-text-5"/>
          <p:cNvSpPr txBox="1"/>
          <p:nvPr/>
        </p:nvSpPr>
        <p:spPr>
          <a:xfrm>
            <a:off x="10122408" y="1965960"/>
            <a:ext cx="1472184" cy="2377440"/>
          </a:xfrm>
          <a:prstGeom prst="rect">
            <a:avLst/>
          </a:prstGeom>
          <a:noFill/>
          <a:ln/>
        </p:spPr>
        <p:txBody>
          <a:bodyPr wrap="square" lIns="0" tIns="0" rIns="0" bIns="0" rtlCol="0" anchor="t"/>
          <a:lstStyle/>
          <a:p>
            <a:pPr indent="0" marL="0">
              <a:buNone/>
            </a:pPr>
            <a:r>
              <a:rPr lang="en-US" sz="2600" b="1" dirty="0">
                <a:solidFill>
                  <a:schemeClr val="bg1"/>
                </a:solidFill>
              </a:rPr>
              <a:t>6
</a:t>
            </a:r>
            <a:pPr indent="0" marL="0">
              <a:buNone/>
            </a:pPr>
            <a:r>
              <a:rPr lang="en-US" sz="1600" b="1" dirty="0">
                <a:solidFill>
                  <a:schemeClr val="bg1"/>
                </a:solidFill>
              </a:rPr>
              <a:t>Report
</a:t>
            </a:r>
            <a:pPr indent="0" marL="0">
              <a:buNone/>
            </a:pPr>
            <a:r>
              <a:rPr lang="en-US" sz="1300" dirty="0">
                <a:solidFill>
                  <a:schemeClr val="bg1"/>
                </a:solidFill>
              </a:rPr>
              <a:t>Tables, significance tests, real-scan figures</a:t>
            </a:r>
            <a:endParaRPr lang="en-US" sz="2600" dirty="0"/>
          </a:p>
        </p:txBody>
      </p:sp>
      <p:sp>
        <p:nvSpPr>
          <p:cNvPr id="16" name="pipe-note"/>
          <p:cNvSpPr txBox="1"/>
          <p:nvPr/>
        </p:nvSpPr>
        <p:spPr>
          <a:xfrm>
            <a:off x="548640" y="4937760"/>
            <a:ext cx="11064240" cy="548640"/>
          </a:xfrm>
          <a:prstGeom prst="rect">
            <a:avLst/>
          </a:prstGeom>
          <a:noFill/>
          <a:ln/>
        </p:spPr>
        <p:txBody>
          <a:bodyPr wrap="square" lIns="0" tIns="0" rIns="0" bIns="0" rtlCol="0" anchor="ctr"/>
          <a:lstStyle/>
          <a:p>
            <a:pPr indent="0" marL="0">
              <a:buNone/>
            </a:pPr>
            <a:r>
              <a:rPr lang="en-US" sz="1600" i="1" dirty="0">
                <a:solidFill>
                  <a:schemeClr val="accent1"/>
                </a:solidFill>
              </a:rPr>
              <a:t>Every number in the papers is produced by this code from saved result files — never typed by hand.</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How the code is organised</a:t>
            </a:r>
            <a:endParaRPr lang="en-US" sz="3200" dirty="0"/>
          </a:p>
        </p:txBody>
      </p:sp>
      <p:sp>
        <p:nvSpPr>
          <p:cNvPr id="4" name="file-0"/>
          <p:cNvSpPr txBox="1"/>
          <p:nvPr/>
        </p:nvSpPr>
        <p:spPr>
          <a:xfrm>
            <a:off x="548640" y="1371600"/>
            <a:ext cx="3474720" cy="6400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muse3d/models.py</a:t>
            </a:r>
            <a:endParaRPr lang="en-US" sz="1600" dirty="0"/>
          </a:p>
        </p:txBody>
      </p:sp>
      <p:sp>
        <p:nvSpPr>
          <p:cNvPr id="5" name="file-desc-0"/>
          <p:cNvSpPr txBox="1"/>
          <p:nvPr/>
        </p:nvSpPr>
        <p:spPr>
          <a:xfrm>
            <a:off x="4206240" y="1371600"/>
            <a:ext cx="7406640" cy="640080"/>
          </a:xfrm>
          <a:prstGeom prst="rect">
            <a:avLst/>
          </a:prstGeom>
          <a:noFill/>
          <a:ln/>
        </p:spPr>
        <p:txBody>
          <a:bodyPr wrap="square" lIns="0" tIns="0" rIns="0" bIns="0" rtlCol="0" anchor="ctr"/>
          <a:lstStyle/>
          <a:p>
            <a:pPr indent="0" marL="0">
              <a:buNone/>
            </a:pPr>
            <a:r>
              <a:rPr lang="en-US" sz="1600" dirty="0">
                <a:solidFill>
                  <a:schemeClr val="tx2"/>
                </a:solidFill>
              </a:rPr>
              <a:t>MUSE and every MRI baseline on one shared 3D U-Net backbone</a:t>
            </a:r>
            <a:endParaRPr lang="en-US" sz="1600" dirty="0"/>
          </a:p>
        </p:txBody>
      </p:sp>
      <p:sp>
        <p:nvSpPr>
          <p:cNvPr id="6" name="file-1"/>
          <p:cNvSpPr txBox="1"/>
          <p:nvPr/>
        </p:nvSpPr>
        <p:spPr>
          <a:xfrm>
            <a:off x="548640" y="2148840"/>
            <a:ext cx="3474720" cy="6400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muse3d/losses.py</a:t>
            </a:r>
            <a:endParaRPr lang="en-US" sz="1600" dirty="0"/>
          </a:p>
        </p:txBody>
      </p:sp>
      <p:sp>
        <p:nvSpPr>
          <p:cNvPr id="7" name="file-desc-1"/>
          <p:cNvSpPr txBox="1"/>
          <p:nvPr/>
        </p:nvSpPr>
        <p:spPr>
          <a:xfrm>
            <a:off x="4206240" y="2148840"/>
            <a:ext cx="7406640" cy="640080"/>
          </a:xfrm>
          <a:prstGeom prst="rect">
            <a:avLst/>
          </a:prstGeom>
          <a:noFill/>
          <a:ln/>
        </p:spPr>
        <p:txBody>
          <a:bodyPr wrap="square" lIns="0" tIns="0" rIns="0" bIns="0" rtlCol="0" anchor="ctr"/>
          <a:lstStyle/>
          <a:p>
            <a:pPr indent="0" marL="0">
              <a:buNone/>
            </a:pPr>
            <a:r>
              <a:rPr lang="en-US" sz="1600" dirty="0">
                <a:solidFill>
                  <a:schemeClr val="tx2"/>
                </a:solidFill>
              </a:rPr>
              <a:t>Evidence loss + Dice loss; each model's own training objective</a:t>
            </a:r>
            <a:endParaRPr lang="en-US" sz="1600" dirty="0"/>
          </a:p>
        </p:txBody>
      </p:sp>
      <p:sp>
        <p:nvSpPr>
          <p:cNvPr id="8" name="file-2"/>
          <p:cNvSpPr txBox="1"/>
          <p:nvPr/>
        </p:nvSpPr>
        <p:spPr>
          <a:xfrm>
            <a:off x="548640" y="2926080"/>
            <a:ext cx="3474720" cy="6400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run_mri3d.py</a:t>
            </a:r>
            <a:endParaRPr lang="en-US" sz="1600" dirty="0"/>
          </a:p>
        </p:txBody>
      </p:sp>
      <p:sp>
        <p:nvSpPr>
          <p:cNvPr id="9" name="file-desc-2"/>
          <p:cNvSpPr txBox="1"/>
          <p:nvPr/>
        </p:nvSpPr>
        <p:spPr>
          <a:xfrm>
            <a:off x="4206240" y="2926080"/>
            <a:ext cx="7406640" cy="640080"/>
          </a:xfrm>
          <a:prstGeom prst="rect">
            <a:avLst/>
          </a:prstGeom>
          <a:noFill/>
          <a:ln/>
        </p:spPr>
        <p:txBody>
          <a:bodyPr wrap="square" lIns="0" tIns="0" rIns="0" bIns="0" rtlCol="0" anchor="ctr"/>
          <a:lstStyle/>
          <a:p>
            <a:pPr indent="0" marL="0">
              <a:buNone/>
            </a:pPr>
            <a:r>
              <a:rPr lang="en-US" sz="1600" dirty="0">
                <a:solidFill>
                  <a:schemeClr val="tx2"/>
                </a:solidFill>
              </a:rPr>
              <a:t>Preprocess → train (resumable) → test all 15 combinations</a:t>
            </a:r>
            <a:endParaRPr lang="en-US" sz="1600" dirty="0"/>
          </a:p>
        </p:txBody>
      </p:sp>
      <p:sp>
        <p:nvSpPr>
          <p:cNvPr id="10" name="file-3"/>
          <p:cNvSpPr txBox="1"/>
          <p:nvPr/>
        </p:nvSpPr>
        <p:spPr>
          <a:xfrm>
            <a:off x="548640" y="3703320"/>
            <a:ext cx="3474720" cy="6400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muse/ &amp; run_graph.py</a:t>
            </a:r>
            <a:endParaRPr lang="en-US" sz="1600" dirty="0"/>
          </a:p>
        </p:txBody>
      </p:sp>
      <p:sp>
        <p:nvSpPr>
          <p:cNvPr id="11" name="file-desc-3"/>
          <p:cNvSpPr txBox="1"/>
          <p:nvPr/>
        </p:nvSpPr>
        <p:spPr>
          <a:xfrm>
            <a:off x="4206240" y="3703320"/>
            <a:ext cx="7406640" cy="640080"/>
          </a:xfrm>
          <a:prstGeom prst="rect">
            <a:avLst/>
          </a:prstGeom>
          <a:noFill/>
          <a:ln/>
        </p:spPr>
        <p:txBody>
          <a:bodyPr wrap="square" lIns="0" tIns="0" rIns="0" bIns="0" rtlCol="0" anchor="ctr"/>
          <a:lstStyle/>
          <a:p>
            <a:pPr indent="0" marL="0">
              <a:buNone/>
            </a:pPr>
            <a:r>
              <a:rPr lang="en-US" sz="1600" dirty="0">
                <a:solidFill>
                  <a:schemeClr val="tx2"/>
                </a:solidFill>
              </a:rPr>
              <a:t>Graph version of MUSE and the citation / product benchmarks</a:t>
            </a:r>
            <a:endParaRPr lang="en-US" sz="1600" dirty="0"/>
          </a:p>
        </p:txBody>
      </p:sp>
      <p:sp>
        <p:nvSpPr>
          <p:cNvPr id="12" name="file-4"/>
          <p:cNvSpPr txBox="1"/>
          <p:nvPr/>
        </p:nvSpPr>
        <p:spPr>
          <a:xfrm>
            <a:off x="548640" y="4480560"/>
            <a:ext cx="3474720" cy="6400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aggregate*.py, figures/</a:t>
            </a:r>
            <a:endParaRPr lang="en-US" sz="1600" dirty="0"/>
          </a:p>
        </p:txBody>
      </p:sp>
      <p:sp>
        <p:nvSpPr>
          <p:cNvPr id="13" name="file-desc-4"/>
          <p:cNvSpPr txBox="1"/>
          <p:nvPr/>
        </p:nvSpPr>
        <p:spPr>
          <a:xfrm>
            <a:off x="4206240" y="4480560"/>
            <a:ext cx="7406640" cy="640080"/>
          </a:xfrm>
          <a:prstGeom prst="rect">
            <a:avLst/>
          </a:prstGeom>
          <a:noFill/>
          <a:ln/>
        </p:spPr>
        <p:txBody>
          <a:bodyPr wrap="square" lIns="0" tIns="0" rIns="0" bIns="0" rtlCol="0" anchor="ctr"/>
          <a:lstStyle/>
          <a:p>
            <a:pPr indent="0" marL="0">
              <a:buNone/>
            </a:pPr>
            <a:r>
              <a:rPr lang="en-US" sz="1600" dirty="0">
                <a:solidFill>
                  <a:schemeClr val="tx2"/>
                </a:solidFill>
              </a:rPr>
              <a:t>Tables with significance tests, and every figure</a:t>
            </a:r>
            <a:endParaRPr lang="en-US" sz="1600" dirty="0"/>
          </a:p>
        </p:txBody>
      </p:sp>
      <p:sp>
        <p:nvSpPr>
          <p:cNvPr id="14" name="file-5"/>
          <p:cNvSpPr txBox="1"/>
          <p:nvPr/>
        </p:nvSpPr>
        <p:spPr>
          <a:xfrm>
            <a:off x="548640" y="5257800"/>
            <a:ext cx="3474720" cy="6400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tests/</a:t>
            </a:r>
            <a:endParaRPr lang="en-US" sz="1600" dirty="0"/>
          </a:p>
        </p:txBody>
      </p:sp>
      <p:sp>
        <p:nvSpPr>
          <p:cNvPr id="15" name="file-desc-5"/>
          <p:cNvSpPr txBox="1"/>
          <p:nvPr/>
        </p:nvSpPr>
        <p:spPr>
          <a:xfrm>
            <a:off x="4206240" y="5257800"/>
            <a:ext cx="7406640" cy="640080"/>
          </a:xfrm>
          <a:prstGeom prst="rect">
            <a:avLst/>
          </a:prstGeom>
          <a:noFill/>
          <a:ln/>
        </p:spPr>
        <p:txBody>
          <a:bodyPr wrap="square" lIns="0" tIns="0" rIns="0" bIns="0" rtlCol="0" anchor="ctr"/>
          <a:lstStyle/>
          <a:p>
            <a:pPr indent="0" marL="0">
              <a:buNone/>
            </a:pPr>
            <a:r>
              <a:rPr lang="en-US" sz="1600" dirty="0">
                <a:solidFill>
                  <a:schemeClr val="tx2"/>
                </a:solidFill>
              </a:rPr>
              <a:t>14 automatic checks, e.g. a missing scan can never change the output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How we kept it rigorous</a:t>
            </a:r>
            <a:endParaRPr lang="en-US" sz="3200" dirty="0"/>
          </a:p>
        </p:txBody>
      </p:sp>
      <p:sp>
        <p:nvSpPr>
          <p:cNvPr id="3" name="rig0-card"/>
          <p:cNvSpPr/>
          <p:nvPr/>
        </p:nvSpPr>
        <p:spPr>
          <a:xfrm>
            <a:off x="548640" y="1371600"/>
            <a:ext cx="5440680" cy="2286000"/>
          </a:xfrm>
          <a:prstGeom prst="roundRect">
            <a:avLst>
              <a:gd name="adj" fmla="val 4800"/>
            </a:avLst>
          </a:prstGeom>
          <a:solidFill>
            <a:schemeClr val="bg2"/>
          </a:solidFill>
          <a:ln w="12700">
            <a:solidFill>
              <a:schemeClr val="bg2"/>
            </a:solidFill>
            <a:prstDash val="solid"/>
          </a:ln>
        </p:spPr>
      </p:sp>
      <p:sp>
        <p:nvSpPr>
          <p:cNvPr id="4" name="rig0-dot"/>
          <p:cNvSpPr/>
          <p:nvPr/>
        </p:nvSpPr>
        <p:spPr>
          <a:xfrm>
            <a:off x="777240" y="1600200"/>
            <a:ext cx="566928" cy="566928"/>
          </a:xfrm>
          <a:prstGeom prst="ellipse">
            <a:avLst/>
          </a:prstGeom>
          <a:solidFill>
            <a:srgbClr val="1F7A8C"/>
          </a:solidFill>
          <a:ln w="12700">
            <a:solidFill>
              <a:srgbClr val="1F7A8C"/>
            </a:solidFill>
            <a:prstDash val="solid"/>
          </a:ln>
        </p:spPr>
      </p:sp>
      <p:pic>
        <p:nvPicPr>
          <p:cNvPr id="5" name="rig0-icon" descr="preencoded.png">    </p:cNvPr>
          <p:cNvPicPr>
            <a:picLocks noChangeAspect="1"/>
          </p:cNvPicPr>
          <p:nvPr/>
        </p:nvPicPr>
        <p:blipFill>
          <a:blip r:embed="rId1"/>
          <a:stretch>
            <a:fillRect/>
          </a:stretch>
        </p:blipFill>
        <p:spPr>
          <a:xfrm>
            <a:off x="905256" y="1728216"/>
            <a:ext cx="310896" cy="310896"/>
          </a:xfrm>
          <a:prstGeom prst="rect">
            <a:avLst/>
          </a:prstGeom>
        </p:spPr>
      </p:pic>
      <p:sp>
        <p:nvSpPr>
          <p:cNvPr id="6" name="rig0-head"/>
          <p:cNvSpPr txBox="1"/>
          <p:nvPr/>
        </p:nvSpPr>
        <p:spPr>
          <a:xfrm>
            <a:off x="1463040" y="15727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Tested code</a:t>
            </a:r>
            <a:endParaRPr lang="en-US" sz="1800" dirty="0"/>
          </a:p>
        </p:txBody>
      </p:sp>
      <p:sp>
        <p:nvSpPr>
          <p:cNvPr id="7" name="rig0-body"/>
          <p:cNvSpPr txBox="1"/>
          <p:nvPr/>
        </p:nvSpPr>
        <p:spPr>
          <a:xfrm>
            <a:off x="777240" y="2286000"/>
            <a:ext cx="4983480" cy="1234440"/>
          </a:xfrm>
          <a:prstGeom prst="rect">
            <a:avLst/>
          </a:prstGeom>
          <a:noFill/>
          <a:ln/>
        </p:spPr>
        <p:txBody>
          <a:bodyPr wrap="square" lIns="0" tIns="0" rIns="0" bIns="0" rtlCol="0" anchor="t"/>
          <a:lstStyle/>
          <a:p>
            <a:pPr indent="0" marL="0">
              <a:buNone/>
            </a:pPr>
            <a:r>
              <a:rPr lang="en-US" sz="1600" dirty="0">
                <a:solidFill>
                  <a:schemeClr val="tx2"/>
                </a:solidFill>
              </a:rPr>
              <a:t>14 automatic tests: properties hold, missing scans have zero effect, fast paths equal slow paths.</a:t>
            </a:r>
            <a:endParaRPr lang="en-US" sz="1600" dirty="0"/>
          </a:p>
        </p:txBody>
      </p:sp>
      <p:sp>
        <p:nvSpPr>
          <p:cNvPr id="8" name="rig1-card"/>
          <p:cNvSpPr/>
          <p:nvPr/>
        </p:nvSpPr>
        <p:spPr>
          <a:xfrm>
            <a:off x="6172200" y="1371600"/>
            <a:ext cx="5440680" cy="2286000"/>
          </a:xfrm>
          <a:prstGeom prst="roundRect">
            <a:avLst>
              <a:gd name="adj" fmla="val 4800"/>
            </a:avLst>
          </a:prstGeom>
          <a:solidFill>
            <a:schemeClr val="bg2"/>
          </a:solidFill>
          <a:ln w="12700">
            <a:solidFill>
              <a:schemeClr val="bg2"/>
            </a:solidFill>
            <a:prstDash val="solid"/>
          </a:ln>
        </p:spPr>
      </p:sp>
      <p:sp>
        <p:nvSpPr>
          <p:cNvPr id="9" name="rig1-dot"/>
          <p:cNvSpPr/>
          <p:nvPr/>
        </p:nvSpPr>
        <p:spPr>
          <a:xfrm>
            <a:off x="6400800" y="1600200"/>
            <a:ext cx="566928" cy="566928"/>
          </a:xfrm>
          <a:prstGeom prst="ellipse">
            <a:avLst/>
          </a:prstGeom>
          <a:solidFill>
            <a:srgbClr val="E07A5F"/>
          </a:solidFill>
          <a:ln w="12700">
            <a:solidFill>
              <a:srgbClr val="E07A5F"/>
            </a:solidFill>
            <a:prstDash val="solid"/>
          </a:ln>
        </p:spPr>
      </p:sp>
      <p:pic>
        <p:nvPicPr>
          <p:cNvPr id="10" name="rig1-icon" descr="preencoded.png">    </p:cNvPr>
          <p:cNvPicPr>
            <a:picLocks noChangeAspect="1"/>
          </p:cNvPicPr>
          <p:nvPr/>
        </p:nvPicPr>
        <p:blipFill>
          <a:blip r:embed="rId2"/>
          <a:stretch>
            <a:fillRect/>
          </a:stretch>
        </p:blipFill>
        <p:spPr>
          <a:xfrm>
            <a:off x="6528816" y="1728216"/>
            <a:ext cx="310896" cy="310896"/>
          </a:xfrm>
          <a:prstGeom prst="rect">
            <a:avLst/>
          </a:prstGeom>
        </p:spPr>
      </p:pic>
      <p:sp>
        <p:nvSpPr>
          <p:cNvPr id="11" name="rig1-head"/>
          <p:cNvSpPr txBox="1"/>
          <p:nvPr/>
        </p:nvSpPr>
        <p:spPr>
          <a:xfrm>
            <a:off x="7086600" y="15727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No peeking at test data</a:t>
            </a:r>
            <a:endParaRPr lang="en-US" sz="1800" dirty="0"/>
          </a:p>
        </p:txBody>
      </p:sp>
      <p:sp>
        <p:nvSpPr>
          <p:cNvPr id="12" name="rig1-body"/>
          <p:cNvSpPr txBox="1"/>
          <p:nvPr/>
        </p:nvSpPr>
        <p:spPr>
          <a:xfrm>
            <a:off x="6400800" y="2286000"/>
            <a:ext cx="4983480" cy="1234440"/>
          </a:xfrm>
          <a:prstGeom prst="rect">
            <a:avLst/>
          </a:prstGeom>
          <a:noFill/>
          <a:ln/>
        </p:spPr>
        <p:txBody>
          <a:bodyPr wrap="square" lIns="0" tIns="0" rIns="0" bIns="0" rtlCol="0" anchor="t"/>
          <a:lstStyle/>
          <a:p>
            <a:pPr indent="0" marL="0">
              <a:buNone/>
            </a:pPr>
            <a:r>
              <a:rPr lang="en-US" sz="1600" dirty="0">
                <a:solidFill>
                  <a:schemeClr val="tx2"/>
                </a:solidFill>
              </a:rPr>
              <a:t>All choices on validation data; test results computed once at the end.</a:t>
            </a:r>
            <a:endParaRPr lang="en-US" sz="1600" dirty="0"/>
          </a:p>
        </p:txBody>
      </p:sp>
      <p:sp>
        <p:nvSpPr>
          <p:cNvPr id="13" name="rig2-card"/>
          <p:cNvSpPr/>
          <p:nvPr/>
        </p:nvSpPr>
        <p:spPr>
          <a:xfrm>
            <a:off x="548640" y="3886200"/>
            <a:ext cx="5440680" cy="2286000"/>
          </a:xfrm>
          <a:prstGeom prst="roundRect">
            <a:avLst>
              <a:gd name="adj" fmla="val 4800"/>
            </a:avLst>
          </a:prstGeom>
          <a:solidFill>
            <a:schemeClr val="bg2"/>
          </a:solidFill>
          <a:ln w="12700">
            <a:solidFill>
              <a:schemeClr val="bg2"/>
            </a:solidFill>
            <a:prstDash val="solid"/>
          </a:ln>
        </p:spPr>
      </p:sp>
      <p:sp>
        <p:nvSpPr>
          <p:cNvPr id="14" name="rig2-dot"/>
          <p:cNvSpPr/>
          <p:nvPr/>
        </p:nvSpPr>
        <p:spPr>
          <a:xfrm>
            <a:off x="777240" y="4114800"/>
            <a:ext cx="566928" cy="566928"/>
          </a:xfrm>
          <a:prstGeom prst="ellipse">
            <a:avLst/>
          </a:prstGeom>
          <a:solidFill>
            <a:srgbClr val="3D405B"/>
          </a:solidFill>
          <a:ln w="12700">
            <a:solidFill>
              <a:srgbClr val="3D405B"/>
            </a:solidFill>
            <a:prstDash val="solid"/>
          </a:ln>
        </p:spPr>
      </p:sp>
      <p:pic>
        <p:nvPicPr>
          <p:cNvPr id="15" name="rig2-icon" descr="preencoded.png">    </p:cNvPr>
          <p:cNvPicPr>
            <a:picLocks noChangeAspect="1"/>
          </p:cNvPicPr>
          <p:nvPr/>
        </p:nvPicPr>
        <p:blipFill>
          <a:blip r:embed="rId3"/>
          <a:stretch>
            <a:fillRect/>
          </a:stretch>
        </p:blipFill>
        <p:spPr>
          <a:xfrm>
            <a:off x="905256" y="4242816"/>
            <a:ext cx="310896" cy="310896"/>
          </a:xfrm>
          <a:prstGeom prst="rect">
            <a:avLst/>
          </a:prstGeom>
        </p:spPr>
      </p:pic>
      <p:sp>
        <p:nvSpPr>
          <p:cNvPr id="16" name="rig2-head"/>
          <p:cNvSpPr txBox="1"/>
          <p:nvPr/>
        </p:nvSpPr>
        <p:spPr>
          <a:xfrm>
            <a:off x="1463040" y="40873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Every change reviewed</a:t>
            </a:r>
            <a:endParaRPr lang="en-US" sz="1800" dirty="0"/>
          </a:p>
        </p:txBody>
      </p:sp>
      <p:sp>
        <p:nvSpPr>
          <p:cNvPr id="17" name="rig2-body"/>
          <p:cNvSpPr txBox="1"/>
          <p:nvPr/>
        </p:nvSpPr>
        <p:spPr>
          <a:xfrm>
            <a:off x="777240" y="4800600"/>
            <a:ext cx="4983480" cy="1234440"/>
          </a:xfrm>
          <a:prstGeom prst="rect">
            <a:avLst/>
          </a:prstGeom>
          <a:noFill/>
          <a:ln/>
        </p:spPr>
        <p:txBody>
          <a:bodyPr wrap="square" lIns="0" tIns="0" rIns="0" bIns="0" rtlCol="0" anchor="t"/>
          <a:lstStyle/>
          <a:p>
            <a:pPr indent="0" marL="0">
              <a:buNone/>
            </a:pPr>
            <a:r>
              <a:rPr lang="en-US" sz="1600" dirty="0">
                <a:solidFill>
                  <a:schemeClr val="tx2"/>
                </a:solidFill>
              </a:rPr>
              <a:t>Feature branch → pull request → review → merge: a complete audit trail on GitHub.</a:t>
            </a:r>
            <a:endParaRPr lang="en-US" sz="1600" dirty="0"/>
          </a:p>
        </p:txBody>
      </p:sp>
      <p:sp>
        <p:nvSpPr>
          <p:cNvPr id="18" name="rig3-card"/>
          <p:cNvSpPr/>
          <p:nvPr/>
        </p:nvSpPr>
        <p:spPr>
          <a:xfrm>
            <a:off x="6172200" y="3886200"/>
            <a:ext cx="5440680" cy="2286000"/>
          </a:xfrm>
          <a:prstGeom prst="roundRect">
            <a:avLst>
              <a:gd name="adj" fmla="val 4800"/>
            </a:avLst>
          </a:prstGeom>
          <a:solidFill>
            <a:schemeClr val="bg2"/>
          </a:solidFill>
          <a:ln w="12700">
            <a:solidFill>
              <a:schemeClr val="bg2"/>
            </a:solidFill>
            <a:prstDash val="solid"/>
          </a:ln>
        </p:spPr>
      </p:sp>
      <p:sp>
        <p:nvSpPr>
          <p:cNvPr id="19" name="rig3-dot"/>
          <p:cNvSpPr/>
          <p:nvPr/>
        </p:nvSpPr>
        <p:spPr>
          <a:xfrm>
            <a:off x="6400800" y="4114800"/>
            <a:ext cx="566928" cy="566928"/>
          </a:xfrm>
          <a:prstGeom prst="ellipse">
            <a:avLst/>
          </a:prstGeom>
          <a:solidFill>
            <a:srgbClr val="81B29A"/>
          </a:solidFill>
          <a:ln w="12700">
            <a:solidFill>
              <a:srgbClr val="81B29A"/>
            </a:solidFill>
            <a:prstDash val="solid"/>
          </a:ln>
        </p:spPr>
      </p:sp>
      <p:pic>
        <p:nvPicPr>
          <p:cNvPr id="20" name="rig3-icon" descr="preencoded.png">    </p:cNvPr>
          <p:cNvPicPr>
            <a:picLocks noChangeAspect="1"/>
          </p:cNvPicPr>
          <p:nvPr/>
        </p:nvPicPr>
        <p:blipFill>
          <a:blip r:embed="rId4"/>
          <a:stretch>
            <a:fillRect/>
          </a:stretch>
        </p:blipFill>
        <p:spPr>
          <a:xfrm>
            <a:off x="6528816" y="4242816"/>
            <a:ext cx="310896" cy="310896"/>
          </a:xfrm>
          <a:prstGeom prst="rect">
            <a:avLst/>
          </a:prstGeom>
        </p:spPr>
      </p:pic>
      <p:sp>
        <p:nvSpPr>
          <p:cNvPr id="21" name="rig3-head"/>
          <p:cNvSpPr txBox="1"/>
          <p:nvPr/>
        </p:nvSpPr>
        <p:spPr>
          <a:xfrm>
            <a:off x="7086600" y="40873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Compute where it fit</a:t>
            </a:r>
            <a:endParaRPr lang="en-US" sz="1800" dirty="0"/>
          </a:p>
        </p:txBody>
      </p:sp>
      <p:sp>
        <p:nvSpPr>
          <p:cNvPr id="22" name="rig3-body"/>
          <p:cNvSpPr txBox="1"/>
          <p:nvPr/>
        </p:nvSpPr>
        <p:spPr>
          <a:xfrm>
            <a:off x="6400800" y="4800600"/>
            <a:ext cx="4983480" cy="1234440"/>
          </a:xfrm>
          <a:prstGeom prst="rect">
            <a:avLst/>
          </a:prstGeom>
          <a:noFill/>
          <a:ln/>
        </p:spPr>
        <p:txBody>
          <a:bodyPr wrap="square" lIns="0" tIns="0" rIns="0" bIns="0" rtlCol="0" anchor="t"/>
          <a:lstStyle/>
          <a:p>
            <a:pPr indent="0" marL="0">
              <a:buNone/>
            </a:pPr>
            <a:r>
              <a:rPr lang="en-US" sz="1600" dirty="0">
                <a:solidFill>
                  <a:schemeClr val="tx2"/>
                </a:solidFill>
              </a:rPr>
              <a:t>Mac for testing, free Colab and Kaggle GPUs for training, resumable from checkpoints.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Chapter 6 · What we found</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bg1"/>
                </a:solidFill>
              </a:rPr>
              <a:t>98 unseen patients, 15 scan combinations, 7 methods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Brain-tumour MRI: overall accuracy</a:t>
            </a:r>
            <a:endParaRPr lang="en-US" sz="3200" dirty="0"/>
          </a:p>
        </p:txBody>
      </p:sp>
      <p:graphicFrame>
        <p:nvGraphicFramePr>
          <p:cNvPr id="4" name="mri-chart" descr=""/>
          <p:cNvGraphicFramePr/>
          <p:nvPr/>
        </p:nvGraphicFramePr>
        <p:xfrm>
          <a:off x="548640" y="132588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mri-msg"/>
          <p:cNvSpPr txBox="1"/>
          <p:nvPr/>
        </p:nvSpPr>
        <p:spPr>
          <a:xfrm>
            <a:off x="7863840" y="1645920"/>
            <a:ext cx="3749040" cy="3291840"/>
          </a:xfrm>
          <a:prstGeom prst="rect">
            <a:avLst/>
          </a:prstGeom>
          <a:noFill/>
          <a:ln/>
        </p:spPr>
        <p:txBody>
          <a:bodyPr wrap="square" lIns="0" tIns="0" rIns="0" bIns="0" rtlCol="0" anchor="t"/>
          <a:lstStyle/>
          <a:p>
            <a:pPr indent="0" marL="0">
              <a:buNone/>
            </a:pPr>
            <a:r>
              <a:rPr lang="en-US" sz="2000" b="1" dirty="0">
                <a:solidFill>
                  <a:schemeClr val="tx1"/>
                </a:solidFill>
              </a:rPr>
              <a:t>Tie at the top
</a:t>
            </a:r>
            <a:pPr indent="0" marL="0">
              <a:buNone/>
            </a:pPr>
            <a:r>
              <a:rPr lang="en-US" sz="1600" dirty="0">
                <a:solidFill>
                  <a:schemeClr val="tx2"/>
                </a:solidFill>
              </a:rPr>
              <a:t>MUSE matches the strongest specialised methods and significantly beats HeMIS, LateMean and the standard U-Net.</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Each method's strengths at a glance</a:t>
            </a:r>
            <a:endParaRPr lang="en-US" sz="3200" dirty="0"/>
          </a:p>
        </p:txBody>
      </p:sp>
      <p:pic>
        <p:nvPicPr>
          <p:cNvPr id="4" name="radar" descr="/Users/boolu/Downloads/MUSE/figures/highlights/radar_mri.png">    </p:cNvPr>
          <p:cNvPicPr>
            <a:picLocks noChangeAspect="1"/>
          </p:cNvPicPr>
          <p:nvPr/>
        </p:nvPicPr>
        <p:blipFill>
          <a:blip r:embed="rId1"/>
          <a:srcRect l="0" r="0" t="0" b="0"/>
          <a:stretch/>
        </p:blipFill>
        <p:spPr>
          <a:xfrm>
            <a:off x="548640" y="1234440"/>
            <a:ext cx="5852160" cy="5212080"/>
          </a:xfrm>
          <a:prstGeom prst="rect">
            <a:avLst/>
          </a:prstGeom>
        </p:spPr>
      </p:pic>
      <p:sp>
        <p:nvSpPr>
          <p:cNvPr id="5" name="radar-notes"/>
          <p:cNvSpPr txBox="1"/>
          <p:nvPr/>
        </p:nvSpPr>
        <p:spPr>
          <a:xfrm>
            <a:off x="6766560" y="1645920"/>
            <a:ext cx="4846320" cy="402336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chemeClr val="tx2"/>
                </a:solidFill>
              </a:rPr>
              <a:t>MUSE leads: whole tumour, tumour core, error detection, single-scan robustness</a:t>
            </a:r>
            <a:endParaRPr lang="en-US" sz="1600" dirty="0"/>
          </a:p>
          <a:p>
            <a:pPr marL="342900" indent="-342900">
              <a:spcAft>
                <a:spcPts val="800"/>
              </a:spcAft>
              <a:buSzPct val="100000"/>
              <a:buChar char="•"/>
            </a:pPr>
            <a:r>
              <a:rPr lang="en-US" sz="1600" dirty="0">
                <a:solidFill>
                  <a:schemeClr val="tx2"/>
                </a:solidFill>
              </a:rPr>
              <a:t>mmFormer-style leads: enhancing tumour, calibration</a:t>
            </a:r>
            <a:endParaRPr lang="en-US" sz="1600" dirty="0"/>
          </a:p>
          <a:p>
            <a:pPr marL="342900" indent="-342900">
              <a:spcAft>
                <a:spcPts val="800"/>
              </a:spcAft>
              <a:buSzPct val="100000"/>
              <a:buChar char="•"/>
            </a:pPr>
            <a:r>
              <a:rPr lang="en-US" sz="1600" dirty="0">
                <a:solidFill>
                  <a:schemeClr val="tx2"/>
                </a:solidFill>
              </a:rPr>
              <a:t>Axes scaled worst → best of these four, so gaps look larger than they are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Every scan combination, every method</a:t>
            </a:r>
            <a:endParaRPr lang="en-US" sz="3200" dirty="0"/>
          </a:p>
        </p:txBody>
      </p:sp>
      <p:pic>
        <p:nvPicPr>
          <p:cNvPr id="4" name="heatmap" descr="/Users/boolu/Downloads/MUSE/figures/highlights/heatmap_patterns.png">    </p:cNvPr>
          <p:cNvPicPr>
            <a:picLocks noChangeAspect="1"/>
          </p:cNvPicPr>
          <p:nvPr/>
        </p:nvPicPr>
        <p:blipFill>
          <a:blip r:embed="rId1"/>
          <a:srcRect l="0" r="0" t="0" b="0"/>
          <a:stretch/>
        </p:blipFill>
        <p:spPr>
          <a:xfrm>
            <a:off x="365760" y="1234440"/>
            <a:ext cx="11430000" cy="4846320"/>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MUSE helps most where segmentation is hardest</a:t>
            </a:r>
            <a:endParaRPr lang="en-US" sz="3200" dirty="0"/>
          </a:p>
        </p:txBody>
      </p:sp>
      <p:pic>
        <p:nvPicPr>
          <p:cNvPr id="4" name="robust" descr="/Users/boolu/Downloads/MUSE/figures/highlights/robustness_curve.png">    </p:cNvPr>
          <p:cNvPicPr>
            <a:picLocks noChangeAspect="1"/>
          </p:cNvPicPr>
          <p:nvPr/>
        </p:nvPicPr>
        <p:blipFill>
          <a:blip r:embed="rId1"/>
          <a:srcRect l="0" r="0" t="0" b="0"/>
          <a:stretch/>
        </p:blipFill>
        <p:spPr>
          <a:xfrm>
            <a:off x="365760" y="1280160"/>
            <a:ext cx="5852160" cy="4206240"/>
          </a:xfrm>
          <a:prstGeom prst="rect">
            <a:avLst/>
          </a:prstGeom>
        </p:spPr>
      </p:pic>
      <p:pic>
        <p:nvPicPr>
          <p:cNvPr id="5" name="paired" descr="/Users/boolu/Downloads/MUSE/figures/highlights/paired_scatter.png">    </p:cNvPr>
          <p:cNvPicPr>
            <a:picLocks noChangeAspect="1"/>
          </p:cNvPicPr>
          <p:nvPr/>
        </p:nvPicPr>
        <p:blipFill>
          <a:blip r:embed="rId2"/>
          <a:srcRect l="0" r="0" t="0" b="0"/>
          <a:stretch/>
        </p:blipFill>
        <p:spPr>
          <a:xfrm>
            <a:off x="6400800" y="1280160"/>
            <a:ext cx="5303520" cy="4206240"/>
          </a:xfrm>
          <a:prstGeom prst="rect">
            <a:avLst/>
          </a:prstGeom>
        </p:spPr>
      </p:pic>
      <p:sp>
        <p:nvSpPr>
          <p:cNvPr id="6" name="paired-msg"/>
          <p:cNvSpPr txBox="1"/>
          <p:nvPr/>
        </p:nvSpPr>
        <p:spPr>
          <a:xfrm>
            <a:off x="548640" y="5715000"/>
            <a:ext cx="11064240" cy="457200"/>
          </a:xfrm>
          <a:prstGeom prst="rect">
            <a:avLst/>
          </a:prstGeom>
          <a:noFill/>
          <a:ln/>
        </p:spPr>
        <p:txBody>
          <a:bodyPr wrap="square" lIns="0" tIns="0" rIns="0" bIns="0" rtlCol="0" anchor="ctr"/>
          <a:lstStyle/>
          <a:p>
            <a:pPr indent="0" marL="0">
              <a:buNone/>
            </a:pPr>
            <a:r>
              <a:rPr lang="en-US" sz="1600" i="1" dirty="0">
                <a:solidFill>
                  <a:schemeClr val="accent1"/>
                </a:solidFill>
              </a:rPr>
              <a:t>On hard patients (lower-left), MUSE is mostly above the line.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MUSE knows when it is wrong — and shows why</a:t>
            </a:r>
            <a:endParaRPr lang="en-US" sz="3200" dirty="0"/>
          </a:p>
        </p:txBody>
      </p:sp>
      <p:pic>
        <p:nvPicPr>
          <p:cNvPr id="4" name="errdet" descr="/Users/boolu/Downloads/MUSE/figures/highlights/error_detection.png">    </p:cNvPr>
          <p:cNvPicPr>
            <a:picLocks noChangeAspect="1"/>
          </p:cNvPicPr>
          <p:nvPr/>
        </p:nvPicPr>
        <p:blipFill>
          <a:blip r:embed="rId1"/>
          <a:srcRect l="0" r="0" t="0" b="0"/>
          <a:stretch/>
        </p:blipFill>
        <p:spPr>
          <a:xfrm>
            <a:off x="365760" y="1280160"/>
            <a:ext cx="6949440" cy="4114800"/>
          </a:xfrm>
          <a:prstGeom prst="rect">
            <a:avLst/>
          </a:prstGeom>
        </p:spPr>
      </p:pic>
      <p:pic>
        <p:nvPicPr>
          <p:cNvPr id="5" name="donut" descr="/Users/boolu/Downloads/MUSE/figures/highlights/contributions_donut.png">    </p:cNvPr>
          <p:cNvPicPr>
            <a:picLocks noChangeAspect="1"/>
          </p:cNvPicPr>
          <p:nvPr/>
        </p:nvPicPr>
        <p:blipFill>
          <a:blip r:embed="rId2"/>
          <a:srcRect l="0" r="0" t="0" b="0"/>
          <a:stretch/>
        </p:blipFill>
        <p:spPr>
          <a:xfrm>
            <a:off x="7589520" y="1280160"/>
            <a:ext cx="4206240" cy="4206240"/>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A real unseen patient, scans removed one by one</a:t>
            </a:r>
            <a:endParaRPr lang="en-US" sz="3200" dirty="0"/>
          </a:p>
        </p:txBody>
      </p:sp>
      <p:pic>
        <p:nvPicPr>
          <p:cNvPr id="4" name="contours2d" descr="/Users/boolu/Downloads/MUSE/figures/realistic/BRATS_448_2d_contours.png">    </p:cNvPr>
          <p:cNvPicPr>
            <a:picLocks noChangeAspect="1"/>
          </p:cNvPicPr>
          <p:nvPr/>
        </p:nvPicPr>
        <p:blipFill>
          <a:blip r:embed="rId1"/>
          <a:srcRect l="0" r="0" t="0" b="0"/>
          <a:stretch/>
        </p:blipFill>
        <p:spPr>
          <a:xfrm>
            <a:off x="1737360" y="1188720"/>
            <a:ext cx="8686800" cy="5394960"/>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The tumour in 3D: expert vs MUSE</a:t>
            </a:r>
            <a:endParaRPr lang="en-US" sz="3200" dirty="0"/>
          </a:p>
        </p:txBody>
      </p:sp>
      <p:pic>
        <p:nvPicPr>
          <p:cNvPr id="4" name="regions3d" descr="/Users/boolu/Downloads/MUSE/figures/realistic/BRATS_448_3d_regions.png">    </p:cNvPr>
          <p:cNvPicPr>
            <a:picLocks noChangeAspect="1"/>
          </p:cNvPicPr>
          <p:nvPr/>
        </p:nvPicPr>
        <p:blipFill>
          <a:blip r:embed="rId1"/>
          <a:srcRect l="0" r="0" t="0" b="0"/>
          <a:stretch/>
        </p:blipFill>
        <p:spPr>
          <a:xfrm>
            <a:off x="365760" y="1463040"/>
            <a:ext cx="11430000" cy="3337560"/>
          </a:xfrm>
          <a:prstGeom prst="rect">
            <a:avLst/>
          </a:prstGeom>
        </p:spPr>
      </p:pic>
      <p:sp>
        <p:nvSpPr>
          <p:cNvPr id="5" name="regions-msg"/>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1600" i="1" dirty="0">
                <a:solidFill>
                  <a:schemeClr val="accent1"/>
                </a:solidFill>
              </a:rPr>
              <a:t>With all four scans MUSE reproduces the expert's tumour shape; with fewer scans it degrades gracefully instead of breaking.</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MUSE's doubt, painted on the tumour</a:t>
            </a:r>
            <a:endParaRPr lang="en-US" sz="3200" dirty="0"/>
          </a:p>
        </p:txBody>
      </p:sp>
      <p:pic>
        <p:nvPicPr>
          <p:cNvPr id="4" name="unc3d" descr="/Users/boolu/Downloads/MUSE/figures/realistic/BRATS_448_3d_uncertainty.png">    </p:cNvPr>
          <p:cNvPicPr>
            <a:picLocks noChangeAspect="1"/>
          </p:cNvPicPr>
          <p:nvPr/>
        </p:nvPicPr>
        <p:blipFill>
          <a:blip r:embed="rId1"/>
          <a:srcRect l="0" r="0" t="0" b="0"/>
          <a:stretch/>
        </p:blipFill>
        <p:spPr>
          <a:xfrm>
            <a:off x="365760" y="1463040"/>
            <a:ext cx="11430000" cy="3931920"/>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The same idea works beyond MRI: graph data</a:t>
            </a:r>
            <a:endParaRPr lang="en-US" sz="3200" dirty="0"/>
          </a:p>
        </p:txBody>
      </p:sp>
      <p:pic>
        <p:nvPicPr>
          <p:cNvPr id="4" name="graph-curves" descr="/Users/boolu/Downloads/MUSE/figures/results/fig_missing_rate.png">    </p:cNvPr>
          <p:cNvPicPr>
            <a:picLocks noChangeAspect="1"/>
          </p:cNvPicPr>
          <p:nvPr/>
        </p:nvPicPr>
        <p:blipFill>
          <a:blip r:embed="rId1"/>
          <a:srcRect l="0" r="0" t="0" b="0"/>
          <a:stretch/>
        </p:blipFill>
        <p:spPr>
          <a:xfrm>
            <a:off x="365760" y="1234440"/>
            <a:ext cx="7498080" cy="4846320"/>
          </a:xfrm>
          <a:prstGeom prst="rect">
            <a:avLst/>
          </a:prstGeom>
        </p:spPr>
      </p:pic>
      <p:sp>
        <p:nvSpPr>
          <p:cNvPr id="5" name="gstat-0"/>
          <p:cNvSpPr txBox="1"/>
          <p:nvPr/>
        </p:nvSpPr>
        <p:spPr>
          <a:xfrm>
            <a:off x="8138160" y="1463040"/>
            <a:ext cx="3566160" cy="1325880"/>
          </a:xfrm>
          <a:prstGeom prst="rect">
            <a:avLst/>
          </a:prstGeom>
          <a:noFill/>
          <a:ln/>
        </p:spPr>
        <p:txBody>
          <a:bodyPr wrap="square" lIns="0" tIns="0" rIns="0" bIns="0" rtlCol="0" anchor="ctr"/>
          <a:lstStyle/>
          <a:p>
            <a:pPr indent="0" marL="0">
              <a:buNone/>
            </a:pPr>
            <a:r>
              <a:rPr lang="en-US" sz="1500" b="1" dirty="0">
                <a:solidFill>
                  <a:schemeClr val="tx1"/>
                </a:solidFill>
              </a:rPr>
              <a:t>CiteSeer  </a:t>
            </a:r>
            <a:pPr indent="0" marL="0">
              <a:buNone/>
            </a:pPr>
            <a:r>
              <a:rPr lang="en-US" sz="3000" b="1" dirty="0">
                <a:solidFill>
                  <a:srgbClr val="1F7A8C"/>
                </a:solidFill>
              </a:rPr>
              <a:t>69.5%
</a:t>
            </a:r>
            <a:pPr indent="0" marL="0">
              <a:buNone/>
            </a:pPr>
            <a:r>
              <a:rPr lang="en-US" sz="1300" dirty="0">
                <a:solidFill>
                  <a:schemeClr val="tx2"/>
                </a:solidFill>
              </a:rPr>
              <a:t>best of 9</a:t>
            </a:r>
            <a:endParaRPr lang="en-US" sz="1500" dirty="0"/>
          </a:p>
        </p:txBody>
      </p:sp>
      <p:sp>
        <p:nvSpPr>
          <p:cNvPr id="6" name="gstat-1"/>
          <p:cNvSpPr txBox="1"/>
          <p:nvPr/>
        </p:nvSpPr>
        <p:spPr>
          <a:xfrm>
            <a:off x="8138160" y="2971800"/>
            <a:ext cx="3566160" cy="1325880"/>
          </a:xfrm>
          <a:prstGeom prst="rect">
            <a:avLst/>
          </a:prstGeom>
          <a:noFill/>
          <a:ln/>
        </p:spPr>
        <p:txBody>
          <a:bodyPr wrap="square" lIns="0" tIns="0" rIns="0" bIns="0" rtlCol="0" anchor="ctr"/>
          <a:lstStyle/>
          <a:p>
            <a:pPr indent="0" marL="0">
              <a:buNone/>
            </a:pPr>
            <a:r>
              <a:rPr lang="en-US" sz="1500" b="1" dirty="0">
                <a:solidFill>
                  <a:schemeClr val="tx1"/>
                </a:solidFill>
              </a:rPr>
              <a:t>Amazon-Photo  </a:t>
            </a:r>
            <a:pPr indent="0" marL="0">
              <a:buNone/>
            </a:pPr>
            <a:r>
              <a:rPr lang="en-US" sz="3000" b="1" dirty="0">
                <a:solidFill>
                  <a:srgbClr val="1F7A8C"/>
                </a:solidFill>
              </a:rPr>
              <a:t>89.1%
</a:t>
            </a:r>
            <a:pPr indent="0" marL="0">
              <a:buNone/>
            </a:pPr>
            <a:r>
              <a:rPr lang="en-US" sz="1300" dirty="0">
                <a:solidFill>
                  <a:schemeClr val="tx2"/>
                </a:solidFill>
              </a:rPr>
              <a:t>best of 9</a:t>
            </a:r>
            <a:endParaRPr lang="en-US" sz="1500" dirty="0"/>
          </a:p>
        </p:txBody>
      </p:sp>
      <p:sp>
        <p:nvSpPr>
          <p:cNvPr id="7" name="gstat-2"/>
          <p:cNvSpPr txBox="1"/>
          <p:nvPr/>
        </p:nvSpPr>
        <p:spPr>
          <a:xfrm>
            <a:off x="8138160" y="4480560"/>
            <a:ext cx="3566160" cy="1325880"/>
          </a:xfrm>
          <a:prstGeom prst="rect">
            <a:avLst/>
          </a:prstGeom>
          <a:noFill/>
          <a:ln/>
        </p:spPr>
        <p:txBody>
          <a:bodyPr wrap="square" lIns="0" tIns="0" rIns="0" bIns="0" rtlCol="0" anchor="ctr"/>
          <a:lstStyle/>
          <a:p>
            <a:pPr indent="0" marL="0">
              <a:buNone/>
            </a:pPr>
            <a:r>
              <a:rPr lang="en-US" sz="1500" b="1" dirty="0">
                <a:solidFill>
                  <a:schemeClr val="tx1"/>
                </a:solidFill>
              </a:rPr>
              <a:t>Cora  </a:t>
            </a:r>
            <a:pPr indent="0" marL="0">
              <a:buNone/>
            </a:pPr>
            <a:r>
              <a:rPr lang="en-US" sz="3000" b="1" dirty="0">
                <a:solidFill>
                  <a:srgbClr val="E07A5F"/>
                </a:solidFill>
              </a:rPr>
              <a:t>79.0%
</a:t>
            </a:r>
            <a:pPr indent="0" marL="0">
              <a:buNone/>
            </a:pPr>
            <a:r>
              <a:rPr lang="en-US" sz="1300" dirty="0">
                <a:solidFill>
                  <a:schemeClr val="tx2"/>
                </a:solidFill>
              </a:rPr>
              <a:t>2nd (APPNP 80.7%)</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Ablations prove each part earns its place</a:t>
            </a:r>
            <a:endParaRPr lang="en-US" sz="3200" dirty="0"/>
          </a:p>
        </p:txBody>
      </p:sp>
      <p:graphicFrame>
        <p:nvGraphicFramePr>
          <p:cNvPr id="4" name="abl-chart" descr=""/>
          <p:cNvGraphicFramePr/>
          <p:nvPr/>
        </p:nvGraphicFramePr>
        <p:xfrm>
          <a:off x="548640" y="137160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abl-list"/>
          <p:cNvSpPr txBox="1"/>
          <p:nvPr/>
        </p:nvSpPr>
        <p:spPr>
          <a:xfrm>
            <a:off x="7406640" y="1645920"/>
            <a:ext cx="4206240" cy="384048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chemeClr val="tx2"/>
                </a:solidFill>
              </a:rPr>
              <a:t>Removing the gate costs 2.6 points (p = 6×10⁻¹¹)</a:t>
            </a:r>
            <a:endParaRPr lang="en-US" sz="1600" dirty="0"/>
          </a:p>
          <a:p>
            <a:pPr marL="342900" indent="-342900">
              <a:spcAft>
                <a:spcPts val="800"/>
              </a:spcAft>
              <a:buSzPct val="100000"/>
              <a:buChar char="•"/>
            </a:pPr>
            <a:r>
              <a:rPr lang="en-US" sz="1600" dirty="0">
                <a:solidFill>
                  <a:schemeClr val="tx2"/>
                </a:solidFill>
              </a:rPr>
              <a:t>Dempster's rule instead of sum costs 0.8 points (p = 0.009)</a:t>
            </a:r>
            <a:endParaRPr lang="en-US" sz="1600" dirty="0"/>
          </a:p>
          <a:p>
            <a:pPr marL="342900" indent="-342900">
              <a:spcAft>
                <a:spcPts val="800"/>
              </a:spcAft>
              <a:buSzPct val="100000"/>
              <a:buChar char="•"/>
            </a:pPr>
            <a:r>
              <a:rPr lang="en-US" sz="1600" dirty="0">
                <a:solidFill>
                  <a:schemeClr val="tx2"/>
                </a:solidFill>
              </a:rPr>
              <a:t>Fusion order: MUSE and Dempster give identical answers in any order; Yager, PCR5 and averaging do not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indent="0" marL="0">
              <a:buNone/>
            </a:pPr>
            <a:r>
              <a:rPr lang="en-US" sz="4000" b="1" dirty="0">
                <a:solidFill>
                  <a:schemeClr val="bg1"/>
                </a:solidFill>
                <a:latin typeface="Cambria" pitchFamily="34" charset="0"/>
                <a:ea typeface="Cambria" pitchFamily="34" charset="-122"/>
                <a:cs typeface="Cambria" pitchFamily="34" charset="-120"/>
              </a:rPr>
              <a:t>Chapter 7 · Where we are</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bg1"/>
                </a:solidFill>
              </a:rPr>
              <a:t>Status, the open question, and the papers</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p>
            <a:pPr indent="0" marL="0">
              <a:buNone/>
            </a:pPr>
            <a:r>
              <a:rPr lang="en-US" sz="3200" b="1" dirty="0">
                <a:solidFill>
                  <a:schemeClr val="tx1"/>
                </a:solidFill>
                <a:latin typeface="Cambria" pitchFamily="34" charset="0"/>
                <a:ea typeface="Cambria" pitchFamily="34" charset="-122"/>
                <a:cs typeface="Cambria" pitchFamily="34" charset="-120"/>
              </a:rPr>
              <a:t>Status and next steps</a:t>
            </a:r>
            <a:endParaRPr lang="en-US" sz="3200" dirty="0"/>
          </a:p>
        </p:txBody>
      </p:sp>
      <p:sp>
        <p:nvSpPr>
          <p:cNvPr id="3" name="next0-card"/>
          <p:cNvSpPr/>
          <p:nvPr/>
        </p:nvSpPr>
        <p:spPr>
          <a:xfrm>
            <a:off x="548640" y="1371600"/>
            <a:ext cx="5440680" cy="2286000"/>
          </a:xfrm>
          <a:prstGeom prst="roundRect">
            <a:avLst>
              <a:gd name="adj" fmla="val 4800"/>
            </a:avLst>
          </a:prstGeom>
          <a:solidFill>
            <a:schemeClr val="bg2"/>
          </a:solidFill>
          <a:ln w="12700">
            <a:solidFill>
              <a:schemeClr val="bg2"/>
            </a:solidFill>
            <a:prstDash val="solid"/>
          </a:ln>
        </p:spPr>
      </p:sp>
      <p:sp>
        <p:nvSpPr>
          <p:cNvPr id="4" name="next0-dot"/>
          <p:cNvSpPr/>
          <p:nvPr/>
        </p:nvSpPr>
        <p:spPr>
          <a:xfrm>
            <a:off x="777240" y="1600200"/>
            <a:ext cx="566928" cy="566928"/>
          </a:xfrm>
          <a:prstGeom prst="ellipse">
            <a:avLst/>
          </a:prstGeom>
          <a:solidFill>
            <a:srgbClr val="81B29A"/>
          </a:solidFill>
          <a:ln w="12700">
            <a:solidFill>
              <a:srgbClr val="81B29A"/>
            </a:solidFill>
            <a:prstDash val="solid"/>
          </a:ln>
        </p:spPr>
      </p:sp>
      <p:pic>
        <p:nvPicPr>
          <p:cNvPr id="5" name="next0-icon" descr="preencoded.png">    </p:cNvPr>
          <p:cNvPicPr>
            <a:picLocks noChangeAspect="1"/>
          </p:cNvPicPr>
          <p:nvPr/>
        </p:nvPicPr>
        <p:blipFill>
          <a:blip r:embed="rId1"/>
          <a:stretch>
            <a:fillRect/>
          </a:stretch>
        </p:blipFill>
        <p:spPr>
          <a:xfrm>
            <a:off x="905256" y="1728216"/>
            <a:ext cx="310896" cy="310896"/>
          </a:xfrm>
          <a:prstGeom prst="rect">
            <a:avLst/>
          </a:prstGeom>
        </p:spPr>
      </p:pic>
      <p:sp>
        <p:nvSpPr>
          <p:cNvPr id="6" name="next0-head"/>
          <p:cNvSpPr txBox="1"/>
          <p:nvPr/>
        </p:nvSpPr>
        <p:spPr>
          <a:xfrm>
            <a:off x="1463040" y="15727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Done</a:t>
            </a:r>
            <a:endParaRPr lang="en-US" sz="1800" dirty="0"/>
          </a:p>
        </p:txBody>
      </p:sp>
      <p:sp>
        <p:nvSpPr>
          <p:cNvPr id="7" name="next0-body"/>
          <p:cNvSpPr txBox="1"/>
          <p:nvPr/>
        </p:nvSpPr>
        <p:spPr>
          <a:xfrm>
            <a:off x="777240" y="2286000"/>
            <a:ext cx="4983480" cy="1234440"/>
          </a:xfrm>
          <a:prstGeom prst="rect">
            <a:avLst/>
          </a:prstGeom>
          <a:noFill/>
          <a:ln/>
        </p:spPr>
        <p:txBody>
          <a:bodyPr wrap="square" lIns="0" tIns="0" rIns="0" bIns="0" rtlCol="0" anchor="t"/>
          <a:lstStyle/>
          <a:p>
            <a:pPr indent="0" marL="0">
              <a:buNone/>
            </a:pPr>
            <a:r>
              <a:rPr lang="en-US" sz="1500" dirty="0">
                <a:solidFill>
                  <a:schemeClr val="tx2"/>
                </a:solidFill>
              </a:rPr>
              <a:t>All experiments: 7 MRI methods × 98 patients, 9 graph methods × 3 datasets × 5 seeds, ablations, real-scan figures.</a:t>
            </a:r>
            <a:endParaRPr lang="en-US" sz="1500" dirty="0"/>
          </a:p>
        </p:txBody>
      </p:sp>
      <p:sp>
        <p:nvSpPr>
          <p:cNvPr id="8" name="next1-card"/>
          <p:cNvSpPr/>
          <p:nvPr/>
        </p:nvSpPr>
        <p:spPr>
          <a:xfrm>
            <a:off x="6172200" y="1371600"/>
            <a:ext cx="5440680" cy="2286000"/>
          </a:xfrm>
          <a:prstGeom prst="roundRect">
            <a:avLst>
              <a:gd name="adj" fmla="val 4800"/>
            </a:avLst>
          </a:prstGeom>
          <a:solidFill>
            <a:schemeClr val="bg2"/>
          </a:solidFill>
          <a:ln w="12700">
            <a:solidFill>
              <a:schemeClr val="bg2"/>
            </a:solidFill>
            <a:prstDash val="solid"/>
          </a:ln>
        </p:spPr>
      </p:sp>
      <p:sp>
        <p:nvSpPr>
          <p:cNvPr id="9" name="next1-dot"/>
          <p:cNvSpPr/>
          <p:nvPr/>
        </p:nvSpPr>
        <p:spPr>
          <a:xfrm>
            <a:off x="6400800" y="1600200"/>
            <a:ext cx="566928" cy="566928"/>
          </a:xfrm>
          <a:prstGeom prst="ellipse">
            <a:avLst/>
          </a:prstGeom>
          <a:solidFill>
            <a:srgbClr val="F2CC8F"/>
          </a:solidFill>
          <a:ln w="12700">
            <a:solidFill>
              <a:srgbClr val="F2CC8F"/>
            </a:solidFill>
            <a:prstDash val="solid"/>
          </a:ln>
        </p:spPr>
      </p:sp>
      <p:pic>
        <p:nvPicPr>
          <p:cNvPr id="10" name="next1-icon" descr="preencoded.png">    </p:cNvPr>
          <p:cNvPicPr>
            <a:picLocks noChangeAspect="1"/>
          </p:cNvPicPr>
          <p:nvPr/>
        </p:nvPicPr>
        <p:blipFill>
          <a:blip r:embed="rId2"/>
          <a:stretch>
            <a:fillRect/>
          </a:stretch>
        </p:blipFill>
        <p:spPr>
          <a:xfrm>
            <a:off x="6528816" y="1728216"/>
            <a:ext cx="310896" cy="310896"/>
          </a:xfrm>
          <a:prstGeom prst="rect">
            <a:avLst/>
          </a:prstGeom>
        </p:spPr>
      </p:pic>
      <p:sp>
        <p:nvSpPr>
          <p:cNvPr id="11" name="next1-head"/>
          <p:cNvSpPr txBox="1"/>
          <p:nvPr/>
        </p:nvSpPr>
        <p:spPr>
          <a:xfrm>
            <a:off x="7086600" y="15727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Running now</a:t>
            </a:r>
            <a:endParaRPr lang="en-US" sz="1800" dirty="0"/>
          </a:p>
        </p:txBody>
      </p:sp>
      <p:sp>
        <p:nvSpPr>
          <p:cNvPr id="12" name="next1-body"/>
          <p:cNvSpPr txBox="1"/>
          <p:nvPr/>
        </p:nvSpPr>
        <p:spPr>
          <a:xfrm>
            <a:off x="6400800" y="2286000"/>
            <a:ext cx="4983480" cy="1234440"/>
          </a:xfrm>
          <a:prstGeom prst="rect">
            <a:avLst/>
          </a:prstGeom>
          <a:noFill/>
          <a:ln/>
        </p:spPr>
        <p:txBody>
          <a:bodyPr wrap="square" lIns="0" tIns="0" rIns="0" bIns="0" rtlCol="0" anchor="t"/>
          <a:lstStyle/>
          <a:p>
            <a:pPr indent="0" marL="0">
              <a:buNone/>
            </a:pPr>
            <a:r>
              <a:rPr lang="en-US" sz="1500" dirty="0">
                <a:solidFill>
                  <a:schemeClr val="tx2"/>
                </a:solidFill>
              </a:rPr>
              <a:t>MUSE2: lets scans share context inside the network, aiming to pull clearly ahead of mmFormer. Kept only if it wins on validation.</a:t>
            </a:r>
            <a:endParaRPr lang="en-US" sz="1500" dirty="0"/>
          </a:p>
        </p:txBody>
      </p:sp>
      <p:sp>
        <p:nvSpPr>
          <p:cNvPr id="13" name="next2-card"/>
          <p:cNvSpPr/>
          <p:nvPr/>
        </p:nvSpPr>
        <p:spPr>
          <a:xfrm>
            <a:off x="548640" y="3886200"/>
            <a:ext cx="5440680" cy="2286000"/>
          </a:xfrm>
          <a:prstGeom prst="roundRect">
            <a:avLst>
              <a:gd name="adj" fmla="val 4800"/>
            </a:avLst>
          </a:prstGeom>
          <a:solidFill>
            <a:schemeClr val="bg2"/>
          </a:solidFill>
          <a:ln w="12700">
            <a:solidFill>
              <a:schemeClr val="bg2"/>
            </a:solidFill>
            <a:prstDash val="solid"/>
          </a:ln>
        </p:spPr>
      </p:sp>
      <p:sp>
        <p:nvSpPr>
          <p:cNvPr id="14" name="next2-dot"/>
          <p:cNvSpPr/>
          <p:nvPr/>
        </p:nvSpPr>
        <p:spPr>
          <a:xfrm>
            <a:off x="777240" y="4114800"/>
            <a:ext cx="566928" cy="566928"/>
          </a:xfrm>
          <a:prstGeom prst="ellipse">
            <a:avLst/>
          </a:prstGeom>
          <a:solidFill>
            <a:srgbClr val="1F7A8C"/>
          </a:solidFill>
          <a:ln w="12700">
            <a:solidFill>
              <a:srgbClr val="1F7A8C"/>
            </a:solidFill>
            <a:prstDash val="solid"/>
          </a:ln>
        </p:spPr>
      </p:sp>
      <p:pic>
        <p:nvPicPr>
          <p:cNvPr id="15" name="next2-icon" descr="preencoded.png">    </p:cNvPr>
          <p:cNvPicPr>
            <a:picLocks noChangeAspect="1"/>
          </p:cNvPicPr>
          <p:nvPr/>
        </p:nvPicPr>
        <p:blipFill>
          <a:blip r:embed="rId3"/>
          <a:stretch>
            <a:fillRect/>
          </a:stretch>
        </p:blipFill>
        <p:spPr>
          <a:xfrm>
            <a:off x="905256" y="4242816"/>
            <a:ext cx="310896" cy="310896"/>
          </a:xfrm>
          <a:prstGeom prst="rect">
            <a:avLst/>
          </a:prstGeom>
        </p:spPr>
      </p:pic>
      <p:sp>
        <p:nvSpPr>
          <p:cNvPr id="16" name="next2-head"/>
          <p:cNvSpPr txBox="1"/>
          <p:nvPr/>
        </p:nvSpPr>
        <p:spPr>
          <a:xfrm>
            <a:off x="1463040" y="40873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Papers</a:t>
            </a:r>
            <a:endParaRPr lang="en-US" sz="1800" dirty="0"/>
          </a:p>
        </p:txBody>
      </p:sp>
      <p:sp>
        <p:nvSpPr>
          <p:cNvPr id="17" name="next2-body"/>
          <p:cNvSpPr txBox="1"/>
          <p:nvPr/>
        </p:nvSpPr>
        <p:spPr>
          <a:xfrm>
            <a:off x="777240" y="4800600"/>
            <a:ext cx="4983480" cy="1234440"/>
          </a:xfrm>
          <a:prstGeom prst="rect">
            <a:avLst/>
          </a:prstGeom>
          <a:noFill/>
          <a:ln/>
        </p:spPr>
        <p:txBody>
          <a:bodyPr wrap="square" lIns="0" tIns="0" rIns="0" bIns="0" rtlCol="0" anchor="t"/>
          <a:lstStyle/>
          <a:p>
            <a:pPr indent="0" marL="0">
              <a:buNone/>
            </a:pPr>
            <a:r>
              <a:rPr lang="en-US" sz="1500" dirty="0">
                <a:solidFill>
                  <a:schemeClr val="tx2"/>
                </a:solidFill>
              </a:rPr>
              <a:t>IEEE Transactions journal (method + theory + MRI + graphs) and CARES 2027 (MRI + explainability).</a:t>
            </a:r>
            <a:endParaRPr lang="en-US" sz="1500" dirty="0"/>
          </a:p>
        </p:txBody>
      </p:sp>
      <p:sp>
        <p:nvSpPr>
          <p:cNvPr id="18" name="next3-card"/>
          <p:cNvSpPr/>
          <p:nvPr/>
        </p:nvSpPr>
        <p:spPr>
          <a:xfrm>
            <a:off x="6172200" y="3886200"/>
            <a:ext cx="5440680" cy="2286000"/>
          </a:xfrm>
          <a:prstGeom prst="roundRect">
            <a:avLst>
              <a:gd name="adj" fmla="val 4800"/>
            </a:avLst>
          </a:prstGeom>
          <a:solidFill>
            <a:schemeClr val="bg2"/>
          </a:solidFill>
          <a:ln w="12700">
            <a:solidFill>
              <a:schemeClr val="bg2"/>
            </a:solidFill>
            <a:prstDash val="solid"/>
          </a:ln>
        </p:spPr>
      </p:sp>
      <p:sp>
        <p:nvSpPr>
          <p:cNvPr id="19" name="next3-dot"/>
          <p:cNvSpPr/>
          <p:nvPr/>
        </p:nvSpPr>
        <p:spPr>
          <a:xfrm>
            <a:off x="6400800" y="4114800"/>
            <a:ext cx="566928" cy="566928"/>
          </a:xfrm>
          <a:prstGeom prst="ellipse">
            <a:avLst/>
          </a:prstGeom>
          <a:solidFill>
            <a:srgbClr val="E07A5F"/>
          </a:solidFill>
          <a:ln w="12700">
            <a:solidFill>
              <a:srgbClr val="E07A5F"/>
            </a:solidFill>
            <a:prstDash val="solid"/>
          </a:ln>
        </p:spPr>
      </p:sp>
      <p:pic>
        <p:nvPicPr>
          <p:cNvPr id="20" name="next3-icon" descr="preencoded.png">    </p:cNvPr>
          <p:cNvPicPr>
            <a:picLocks noChangeAspect="1"/>
          </p:cNvPicPr>
          <p:nvPr/>
        </p:nvPicPr>
        <p:blipFill>
          <a:blip r:embed="rId4"/>
          <a:stretch>
            <a:fillRect/>
          </a:stretch>
        </p:blipFill>
        <p:spPr>
          <a:xfrm>
            <a:off x="6528816" y="4242816"/>
            <a:ext cx="310896" cy="310896"/>
          </a:xfrm>
          <a:prstGeom prst="rect">
            <a:avLst/>
          </a:prstGeom>
        </p:spPr>
      </p:pic>
      <p:sp>
        <p:nvSpPr>
          <p:cNvPr id="21" name="next3-head"/>
          <p:cNvSpPr txBox="1"/>
          <p:nvPr/>
        </p:nvSpPr>
        <p:spPr>
          <a:xfrm>
            <a:off x="7086600" y="4087368"/>
            <a:ext cx="4389120" cy="594360"/>
          </a:xfrm>
          <a:prstGeom prst="rect">
            <a:avLst/>
          </a:prstGeom>
          <a:noFill/>
          <a:ln/>
        </p:spPr>
        <p:txBody>
          <a:bodyPr wrap="square" lIns="0" tIns="0" rIns="0" bIns="0" rtlCol="0" anchor="ctr"/>
          <a:lstStyle/>
          <a:p>
            <a:pPr indent="0" marL="0">
              <a:buNone/>
            </a:pPr>
            <a:r>
              <a:rPr lang="en-US" sz="1800" b="1" dirty="0">
                <a:solidFill>
                  <a:schemeClr val="tx1"/>
                </a:solidFill>
              </a:rPr>
              <a:t>Reviewers may ask</a:t>
            </a:r>
            <a:endParaRPr lang="en-US" sz="1800" dirty="0"/>
          </a:p>
        </p:txBody>
      </p:sp>
      <p:sp>
        <p:nvSpPr>
          <p:cNvPr id="22" name="next3-body"/>
          <p:cNvSpPr txBox="1"/>
          <p:nvPr/>
        </p:nvSpPr>
        <p:spPr>
          <a:xfrm>
            <a:off x="6400800" y="4800600"/>
            <a:ext cx="4983480" cy="1234440"/>
          </a:xfrm>
          <a:prstGeom prst="rect">
            <a:avLst/>
          </a:prstGeom>
          <a:noFill/>
          <a:ln/>
        </p:spPr>
        <p:txBody>
          <a:bodyPr wrap="square" lIns="0" tIns="0" rIns="0" bIns="0" rtlCol="0" anchor="t"/>
          <a:lstStyle/>
          <a:p>
            <a:pPr indent="0" marL="0">
              <a:buNone/>
            </a:pPr>
            <a:r>
              <a:rPr lang="en-US" sz="1500" dirty="0">
                <a:solidFill>
                  <a:schemeClr val="tx2"/>
                </a:solidFill>
              </a:rPr>
              <a:t>More training seeds for MRI, and published RFNet/mmFormer numbers on BraTS — we will address both.</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p>
            <a:pPr indent="0" marL="0">
              <a:buNone/>
            </a:pPr>
            <a:r>
              <a:rPr lang="en-US" sz="4400" b="1" dirty="0">
                <a:solidFill>
                  <a:schemeClr val="bg1"/>
                </a:solidFill>
                <a:latin typeface="Cambria" pitchFamily="34" charset="0"/>
                <a:ea typeface="Cambria" pitchFamily="34" charset="-122"/>
                <a:cs typeface="Cambria" pitchFamily="34" charset="-120"/>
              </a:rPr>
              <a:t>MUSE never fakes a missing scan</a:t>
            </a: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lstStyle/>
          <a:p>
            <a:pPr indent="0" marL="0">
              <a:buNone/>
            </a:pPr>
            <a:r>
              <a:rPr lang="en-US" sz="2000" dirty="0">
                <a:solidFill>
                  <a:schemeClr val="accent3"/>
                </a:solidFill>
              </a:rPr>
              <a:t>It says what it knows, how sure it is, and which scan told it — at the accuracy of the best specialised methods.</a:t>
            </a:r>
            <a:endParaRPr lang="en-US" sz="2000" dirty="0"/>
          </a:p>
        </p:txBody>
      </p:sp>
    </p:spTree>
  </p:cSld>
  <p:clrMapOvr>
    <a:masterClrMapping/>
  </p:clrMapOvr>
</p:sld>
</file>

<file path=ppt/theme/theme1.xml><?xml version="1.0" encoding="utf-8"?>
<a:theme xmlns:a="http://schemas.openxmlformats.org/drawingml/2006/main" name="MUSE">
  <a:themeElements>
    <a:clrScheme name="MUSE">
      <a:dk1>
        <a:srgbClr val="1B1F3B"/>
      </a:dk1>
      <a:lt1>
        <a:srgbClr val="FFFFFF"/>
      </a:lt1>
      <a:dk2>
        <a:srgbClr val="3A3F5C"/>
      </a:dk2>
      <a:lt2>
        <a:srgbClr val="EEF2F7"/>
      </a:lt2>
      <a:accent1>
        <a:srgbClr val="1F7A8C"/>
      </a:accent1>
      <a:accent2>
        <a:srgbClr val="E07A5F"/>
      </a:accent2>
      <a:accent3>
        <a:srgbClr val="F2CC8F"/>
      </a:accent3>
      <a:accent4>
        <a:srgbClr val="81B29A"/>
      </a:accent4>
      <a:accent5>
        <a:srgbClr val="3D405B"/>
      </a:accent5>
      <a:accent6>
        <a:srgbClr val="9C6ADE"/>
      </a:accent6>
      <a:hlink>
        <a:srgbClr val="1F7A8C"/>
      </a:hlink>
      <a:folHlink>
        <a:srgbClr val="9C6ADE"/>
      </a:folHlink>
    </a:clrScheme>
    <a:fontScheme name="MU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MUSE: the story</dc:title>
  <dc:subject>PptxGenJS Presentation</dc:subject>
  <dc:creator>PptxGenJS</dc:creator>
  <cp:lastModifiedBy>PptxGenJS</cp:lastModifiedBy>
  <cp:revision>1</cp:revision>
  <dcterms:created xsi:type="dcterms:W3CDTF">2026-10-15T13:26:48Z</dcterms:created>
  <dcterms:modified xsi:type="dcterms:W3CDTF">2026-10-15T13:26:48Z</dcterms:modified>
</cp:coreProperties>
</file>